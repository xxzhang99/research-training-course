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6"/>
  </p:notesMasterIdLst>
  <p:handoutMasterIdLst>
    <p:handoutMasterId r:id="rId7"/>
  </p:handoutMasterIdLst>
  <p:sldIdLst>
    <p:sldId id="258" r:id="rId2"/>
    <p:sldId id="413" r:id="rId3"/>
    <p:sldId id="430" r:id="rId4"/>
    <p:sldId id="431" r:id="rId5"/>
  </p:sldIdLst>
  <p:sldSz cx="9144000" cy="5143500" type="screen16x9"/>
  <p:notesSz cx="6858000" cy="91440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buFont typeface="Arial" charset="0"/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">
          <p15:clr>
            <a:srgbClr val="A4A3A4"/>
          </p15:clr>
        </p15:guide>
        <p15:guide id="2" orient="horz" pos="900">
          <p15:clr>
            <a:srgbClr val="A4A3A4"/>
          </p15:clr>
        </p15:guide>
        <p15:guide id="3" orient="horz" pos="2052">
          <p15:clr>
            <a:srgbClr val="A4A3A4"/>
          </p15:clr>
        </p15:guide>
        <p15:guide id="4" orient="horz" pos="3132">
          <p15:clr>
            <a:srgbClr val="A4A3A4"/>
          </p15:clr>
        </p15:guide>
        <p15:guide id="5" orient="horz" pos="1116">
          <p15:clr>
            <a:srgbClr val="A4A3A4"/>
          </p15:clr>
        </p15:guide>
        <p15:guide id="6" orient="horz" pos="684">
          <p15:clr>
            <a:srgbClr val="A4A3A4"/>
          </p15:clr>
        </p15:guide>
        <p15:guide id="7" pos="2880">
          <p15:clr>
            <a:srgbClr val="A4A3A4"/>
          </p15:clr>
        </p15:guide>
        <p15:guide id="8" pos="245">
          <p15:clr>
            <a:srgbClr val="A4A3A4"/>
          </p15:clr>
        </p15:guide>
        <p15:guide id="9" pos="893">
          <p15:clr>
            <a:srgbClr val="A4A3A4"/>
          </p15:clr>
        </p15:guide>
        <p15:guide id="10" pos="5514">
          <p15:clr>
            <a:srgbClr val="A4A3A4"/>
          </p15:clr>
        </p15:guide>
        <p15:guide id="11" pos="5299">
          <p15:clr>
            <a:srgbClr val="A4A3A4"/>
          </p15:clr>
        </p15:guide>
        <p15:guide id="12" pos="4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8f51119b6961b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7E7E"/>
    <a:srgbClr val="F610E6"/>
    <a:srgbClr val="A3D769"/>
    <a:srgbClr val="FBEFC7"/>
    <a:srgbClr val="FFCB25"/>
    <a:srgbClr val="2486C2"/>
    <a:srgbClr val="FFE181"/>
    <a:srgbClr val="E36D6D"/>
    <a:srgbClr val="6F9C2E"/>
    <a:srgbClr val="D5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6575" autoAdjust="0"/>
  </p:normalViewPr>
  <p:slideViewPr>
    <p:cSldViewPr>
      <p:cViewPr varScale="1">
        <p:scale>
          <a:sx n="104" d="100"/>
          <a:sy n="104" d="100"/>
        </p:scale>
        <p:origin x="1312" y="48"/>
      </p:cViewPr>
      <p:guideLst>
        <p:guide orient="horz" pos="108"/>
        <p:guide orient="horz" pos="900"/>
        <p:guide orient="horz" pos="2052"/>
        <p:guide orient="horz" pos="3132"/>
        <p:guide orient="horz" pos="1116"/>
        <p:guide orient="horz" pos="684"/>
        <p:guide pos="2880"/>
        <p:guide pos="245"/>
        <p:guide pos="893"/>
        <p:guide pos="5514"/>
        <p:guide pos="5299"/>
        <p:guide pos="45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4295" cy="742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8247A-13B5-491F-9F97-C32DC2A76F1F}" type="datetimeFigureOut">
              <a:rPr lang="zh-CN" altLang="en-US"/>
              <a:pPr>
                <a:defRPr/>
              </a:pPr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BF023A7-28A7-4F76-9563-AF5157558A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386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63021AE8-D0B7-4BF6-B781-51FEE193BFAD}" type="datetime1">
              <a:rPr lang="en-US"/>
              <a:pPr>
                <a:defRPr/>
              </a:pPr>
              <a:t>9/11/2026</a:t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47109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Click to edit Master text styles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Second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Third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Fourth level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Fifth level</a:t>
            </a:r>
          </a:p>
        </p:txBody>
      </p:sp>
      <p:sp>
        <p:nvSpPr>
          <p:cNvPr id="10246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500">
                <a:latin typeface="Segoe UI" pitchFamily="34" charset="0"/>
                <a:sym typeface="Segoe U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C602B0D3-82A8-4140-9467-B613966B3B70}" type="slidenum">
              <a:rPr lang="en-US"/>
              <a:pPr>
                <a:defRPr/>
              </a:pPr>
              <a:t>‹#›</a:t>
            </a:fld>
            <a:endParaRPr lang="en-US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87260"/>
      </p:ext>
    </p:extLst>
  </p:cSld>
  <p:clrMap bg1="dk2" tx1="lt1" bg2="dk1" tx2="lt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  <a:pPr eaLnBrk="1" hangingPunct="1"/>
              <a:t>9/11/2026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  <a:pPr eaLnBrk="1" hangingPunct="1"/>
              <a:t>1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0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/>
              <a:t>左侧模型，带地形图输入的为其表现上限。</a:t>
            </a:r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  <a:pPr eaLnBrk="1" hangingPunct="1"/>
              <a:t>9/11/2026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  <a:pPr eaLnBrk="1" hangingPunct="1"/>
              <a:t>2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61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E98E-253A-02F0-73FC-410BA4A8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>
            <a:extLst>
              <a:ext uri="{FF2B5EF4-FFF2-40B4-BE49-F238E27FC236}">
                <a16:creationId xmlns:a16="http://schemas.microsoft.com/office/drawing/2014/main" id="{09703099-F1E3-B9CA-D7A4-DCE32AE8CE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>
            <a:extLst>
              <a:ext uri="{FF2B5EF4-FFF2-40B4-BE49-F238E27FC236}">
                <a16:creationId xmlns:a16="http://schemas.microsoft.com/office/drawing/2014/main" id="{A7B29EA4-D4C3-A13F-A4AA-016EC8FE1B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0" dirty="0"/>
          </a:p>
        </p:txBody>
      </p:sp>
      <p:sp>
        <p:nvSpPr>
          <p:cNvPr id="88068" name="页眉占位符 3">
            <a:extLst>
              <a:ext uri="{FF2B5EF4-FFF2-40B4-BE49-F238E27FC236}">
                <a16:creationId xmlns:a16="http://schemas.microsoft.com/office/drawing/2014/main" id="{48F5D040-8896-67CA-759D-AF546E90AF0C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>
            <a:extLst>
              <a:ext uri="{FF2B5EF4-FFF2-40B4-BE49-F238E27FC236}">
                <a16:creationId xmlns:a16="http://schemas.microsoft.com/office/drawing/2014/main" id="{6FF68C66-2E05-F5C5-76B7-0C4AD17A5B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  <a:pPr eaLnBrk="1" hangingPunct="1"/>
              <a:t>9/11/2026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>
            <a:extLst>
              <a:ext uri="{FF2B5EF4-FFF2-40B4-BE49-F238E27FC236}">
                <a16:creationId xmlns:a16="http://schemas.microsoft.com/office/drawing/2014/main" id="{2EDDCEAA-1F5C-A682-A6D2-3B301E7CC6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>
            <a:extLst>
              <a:ext uri="{FF2B5EF4-FFF2-40B4-BE49-F238E27FC236}">
                <a16:creationId xmlns:a16="http://schemas.microsoft.com/office/drawing/2014/main" id="{71B66C1A-4459-2718-6104-DA598FE91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  <a:pPr eaLnBrk="1" hangingPunct="1"/>
              <a:t>3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17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6F4D-74ED-BC87-7B38-05107A80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>
            <a:extLst>
              <a:ext uri="{FF2B5EF4-FFF2-40B4-BE49-F238E27FC236}">
                <a16:creationId xmlns:a16="http://schemas.microsoft.com/office/drawing/2014/main" id="{D13C5E0E-FD1D-AC59-8DCA-EEA18D4C29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>
            <a:extLst>
              <a:ext uri="{FF2B5EF4-FFF2-40B4-BE49-F238E27FC236}">
                <a16:creationId xmlns:a16="http://schemas.microsoft.com/office/drawing/2014/main" id="{83B18656-5569-00C6-3596-60C89DA8B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dirty="0"/>
              <a:t>左侧模型，带地形图输入的为其表现上限。</a:t>
            </a:r>
          </a:p>
        </p:txBody>
      </p:sp>
      <p:sp>
        <p:nvSpPr>
          <p:cNvPr id="88068" name="页眉占位符 3">
            <a:extLst>
              <a:ext uri="{FF2B5EF4-FFF2-40B4-BE49-F238E27FC236}">
                <a16:creationId xmlns:a16="http://schemas.microsoft.com/office/drawing/2014/main" id="{210FF1CF-FBE9-5888-9A48-8D3611165F5D}"/>
              </a:ext>
            </a:extLst>
          </p:cNvPr>
          <p:cNvSpPr>
            <a:spLocks noGrp="1"/>
          </p:cNvSpPr>
          <p:nvPr>
            <p:ph type="hd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>
            <a:extLst>
              <a:ext uri="{FF2B5EF4-FFF2-40B4-BE49-F238E27FC236}">
                <a16:creationId xmlns:a16="http://schemas.microsoft.com/office/drawing/2014/main" id="{EDE8BA05-3BED-A6F3-A7DD-D12810CC5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  <a:pPr eaLnBrk="1" hangingPunct="1"/>
              <a:t>9/11/2026</a:t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>
            <a:extLst>
              <a:ext uri="{FF2B5EF4-FFF2-40B4-BE49-F238E27FC236}">
                <a16:creationId xmlns:a16="http://schemas.microsoft.com/office/drawing/2014/main" id="{0E63F55C-E941-46DC-3F7A-890973D775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>
            <a:extLst>
              <a:ext uri="{FF2B5EF4-FFF2-40B4-BE49-F238E27FC236}">
                <a16:creationId xmlns:a16="http://schemas.microsoft.com/office/drawing/2014/main" id="{F6CE32D1-9F3F-BA49-4832-27205B589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  <a:pPr eaLnBrk="1" hangingPunct="1"/>
              <a:t>4</a:t>
            </a:fld>
            <a:endParaRPr lang="en-US" altLang="zh-CN" sz="120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9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  <a:pPr>
                <a:defRPr/>
              </a:pPr>
              <a:t>2026/9/11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05700"/>
      </p:ext>
    </p:extLst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Arial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  <a:pPr>
                <a:defRPr/>
              </a:pPr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4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876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5738" indent="-252413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29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1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3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538" indent="-252413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3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8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205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itchFamily="18" charset="0"/>
              </a:rPr>
              <a:pPr eaLnBrk="1" hangingPunct="1"/>
              <a:t>1</a:t>
            </a:fld>
            <a:endParaRPr lang="zh-CN" altLang="en-US" sz="1800">
              <a:latin typeface="Times New Roman" pitchFamily="18" charset="0"/>
            </a:endParaRP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0" y="1177147"/>
            <a:ext cx="9144000" cy="130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138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科研训练三</a:t>
            </a: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  <a:p>
            <a:pPr indent="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Arial" charset="0"/>
              </a:rPr>
              <a:t>课程介绍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Arial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7F9970-198F-47DF-22CB-641301F7FDA3}"/>
              </a:ext>
            </a:extLst>
          </p:cNvPr>
          <p:cNvSpPr txBox="1">
            <a:spLocks/>
          </p:cNvSpPr>
          <p:nvPr/>
        </p:nvSpPr>
        <p:spPr>
          <a:xfrm>
            <a:off x="-172985" y="3101049"/>
            <a:ext cx="9144000" cy="18434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武汉大学，武汉数学与智能研究院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yanxiaosunny@gmail.com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08F8F7-1DB1-1497-4A68-E27E36CC8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14700"/>
            <a:ext cx="9144000" cy="864010"/>
          </a:xfrm>
        </p:spPr>
        <p:txBody>
          <a:bodyPr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晏潇 博士</a:t>
            </a:r>
            <a:endParaRPr lang="en-US" altLang="zh-CN" sz="1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73649A2A-3FD1-1348-448F-0C12696C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" y="78611"/>
            <a:ext cx="706998" cy="7069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/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2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课程内容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9387E0-EB74-DC5A-0BE9-2F9253BC2663}"/>
              </a:ext>
            </a:extLst>
          </p:cNvPr>
          <p:cNvSpPr txBox="1"/>
          <p:nvPr/>
        </p:nvSpPr>
        <p:spPr>
          <a:xfrm>
            <a:off x="0" y="716661"/>
            <a:ext cx="9144000" cy="42135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研究方法和技能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什么是科研，什么是好的研究工作，如何开始做研究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科研全流程技巧：文献阅读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方法构思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实现实验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论文撰写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审稿回复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展示汇报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辅助科研：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调研，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编程，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杂谈：压力管理、时间规划、与人相处、科研生活平衡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硕博申请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简历和文书撰写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申请规划：联系导师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准备面试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Offer</a:t>
            </a: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提供全套申请文档样本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课程特点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内容为个人观点，不一定正确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全面，欢迎探讨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批判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实例讲解：文献调研、方法汇报、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辅助科研、申请文书等由优秀硕博展示案例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交互式授课，欢迎随时打断，抛出问题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观点，进行讨论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武漢大學- 維基百科，自由的百科全書">
            <a:extLst>
              <a:ext uri="{FF2B5EF4-FFF2-40B4-BE49-F238E27FC236}">
                <a16:creationId xmlns:a16="http://schemas.microsoft.com/office/drawing/2014/main" id="{2C713DE3-6D41-D5AE-FE08-C7506671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51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0F0A-6A39-88A9-8670-7E7DCC90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71373007-C4F5-458D-D60F-214435742C70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58083415-9181-2719-CA1F-EE7318833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FFDEAA15-BDD9-5FF6-6DC5-D6C851A87DF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AE968319-CEA7-95A5-31FD-732B124F6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3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BDB3DE1B-5344-9664-248D-6666B53C5A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8149EE63-E1B9-A7AC-4A23-790990986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评分方法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6B3236-F6F1-5A51-D436-24803B2BD433}"/>
              </a:ext>
            </a:extLst>
          </p:cNvPr>
          <p:cNvSpPr txBox="1"/>
          <p:nvPr/>
        </p:nvSpPr>
        <p:spPr>
          <a:xfrm>
            <a:off x="0" y="716662"/>
            <a:ext cx="9144000" cy="4112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基础方法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日常签到       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20%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小组调研展示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40%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研究报告        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40%</a:t>
            </a: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小组展示和研究报告采用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档评分：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100(A), 90(B), 80(C), 70(D), 60(E)</a:t>
            </a: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特例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出勤率低于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50%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，挂科（第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次课后开始签到，总授课次数按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次算，参与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&lt;4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次挂科）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已发表一作（含共同一作）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CCF-A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93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分保底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CCF-A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论文应该在课程提交最终评分之前拿到录用通知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武漢大學- 維基百科，自由的百科全書">
            <a:extLst>
              <a:ext uri="{FF2B5EF4-FFF2-40B4-BE49-F238E27FC236}">
                <a16:creationId xmlns:a16="http://schemas.microsoft.com/office/drawing/2014/main" id="{9C6CBF29-CCE5-20B4-BD06-BCC013FA2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27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37F80-BB11-E7E5-4F34-EF3C71021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E5DF4F2D-25A2-7E2F-DC48-D24FA25D3F4B}"/>
              </a:ext>
            </a:extLst>
          </p:cNvPr>
          <p:cNvGrpSpPr>
            <a:grpSpLocks/>
          </p:cNvGrpSpPr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>
              <a:extLst>
                <a:ext uri="{FF2B5EF4-FFF2-40B4-BE49-F238E27FC236}">
                  <a16:creationId xmlns:a16="http://schemas.microsoft.com/office/drawing/2014/main" id="{40C7E671-D8D2-CEF3-A43E-5A3BFE74F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 dirty="0">
                  <a:latin typeface="Times New Roman" pitchFamily="18" charset="0"/>
                  <a:cs typeface="Times New Roman" pitchFamily="18" charset="0"/>
                </a:rPr>
                <a:t>   </a:t>
              </a:r>
            </a:p>
            <a:p>
              <a:pPr algn="r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93" name="标题 1">
              <a:extLst>
                <a:ext uri="{FF2B5EF4-FFF2-40B4-BE49-F238E27FC236}">
                  <a16:creationId xmlns:a16="http://schemas.microsoft.com/office/drawing/2014/main" id="{79468808-ECBB-23F1-FC35-12989B335B4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 sz="1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itchFamily="18" charset="0"/>
                  <a:cs typeface="Times New Roman" pitchFamily="18" charset="0"/>
                  <a:sym typeface="Arial" charset="0"/>
                </a:rPr>
                <a:t>Slide</a:t>
              </a:r>
              <a:endParaRPr lang="zh-CN" altLang="en-US" sz="1800">
                <a:latin typeface="Times New Roman" pitchFamily="18" charset="0"/>
                <a:cs typeface="Times New Roman" pitchFamily="18" charset="0"/>
                <a:sym typeface="Arial" charset="0"/>
              </a:endParaRPr>
            </a:p>
          </p:txBody>
        </p:sp>
      </p:grp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58280A12-043F-2F9D-4B7F-2BB392551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itchFamily="18" charset="0"/>
              </a:rPr>
              <a:pPr eaLnBrk="1" hangingPunct="1"/>
              <a:t>4</a:t>
            </a:fld>
            <a:endParaRPr lang="zh-CN" altLang="en-US" sz="1800">
              <a:latin typeface="Times New Roman" pitchFamily="18" charset="0"/>
            </a:endParaRPr>
          </a:p>
        </p:txBody>
      </p:sp>
      <p:cxnSp>
        <p:nvCxnSpPr>
          <p:cNvPr id="41989" name="直接连接符 3">
            <a:extLst>
              <a:ext uri="{FF2B5EF4-FFF2-40B4-BE49-F238E27FC236}">
                <a16:creationId xmlns:a16="http://schemas.microsoft.com/office/drawing/2014/main" id="{175CEB44-BDDB-9362-48A4-6E49CD6A1B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>
            <a:extLst>
              <a:ext uri="{FF2B5EF4-FFF2-40B4-BE49-F238E27FC236}">
                <a16:creationId xmlns:a16="http://schemas.microsoft.com/office/drawing/2014/main" id="{8F39CCD9-B46A-A91E-926A-A09052A72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45" y="213299"/>
            <a:ext cx="6909118" cy="360099"/>
          </a:xfrm>
        </p:spPr>
        <p:txBody>
          <a:bodyPr/>
          <a:lstStyle/>
          <a:p>
            <a:pPr marL="0" indent="0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教师和助教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C9F083-5769-7698-E9AF-A610135A6464}"/>
              </a:ext>
            </a:extLst>
          </p:cNvPr>
          <p:cNvSpPr txBox="1"/>
          <p:nvPr/>
        </p:nvSpPr>
        <p:spPr>
          <a:xfrm>
            <a:off x="0" y="716662"/>
            <a:ext cx="9144000" cy="4112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5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晏潇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数学与智能研究院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&amp;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计算机学院，研究员，博士生导师，国家海外优青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数据库与机器学习系统方向，聚焦系统效率优化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yanxiaosunny@whu.edu.cn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，雷军科技楼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A813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室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课程网址：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https://research-training-course.pages.dev/</a:t>
            </a: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王毓祥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计算机学院，博士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年级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图学习算法，推荐系统基础架构，基于大模型的数据治理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已发表一作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CCF-A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篇，获博士国家奖学金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2545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张新勋</a:t>
            </a:r>
            <a:endParaRPr lang="en-US" altLang="zh-CN" sz="18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计算机学院，博士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年级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推荐模型与算法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882650" lvl="1" indent="-342900" algn="just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16349"/>
              </a:buClr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已发表一作（含学生一作）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CCF-A/B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论文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篇，获浙江省优秀硕士论文和优秀硕士毕业生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武漢大學- 維基百科，自由的百科全書">
            <a:extLst>
              <a:ext uri="{FF2B5EF4-FFF2-40B4-BE49-F238E27FC236}">
                <a16:creationId xmlns:a16="http://schemas.microsoft.com/office/drawing/2014/main" id="{7A636874-5C9B-B371-BAEE-18151BCB8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720"/>
            <a:ext cx="594360" cy="594360"/>
          </a:xfrm>
          <a:prstGeom prst="rect">
            <a:avLst/>
          </a:prstGeom>
        </p:spPr>
      </p:pic>
      <p:pic>
        <p:nvPicPr>
          <p:cNvPr id="4" name="图片 3" descr="穿着西装的男孩&#10;&#10;AI 生成的内容可能不正确。">
            <a:extLst>
              <a:ext uri="{FF2B5EF4-FFF2-40B4-BE49-F238E27FC236}">
                <a16:creationId xmlns:a16="http://schemas.microsoft.com/office/drawing/2014/main" id="{6E101BD8-2C44-F6B9-7986-78CEE4D216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387" y="2720340"/>
            <a:ext cx="1100133" cy="1471751"/>
          </a:xfrm>
          <a:prstGeom prst="rect">
            <a:avLst/>
          </a:prstGeom>
        </p:spPr>
      </p:pic>
      <p:pic>
        <p:nvPicPr>
          <p:cNvPr id="5" name="图片 4" descr="Yuxiang Wang">
            <a:extLst>
              <a:ext uri="{FF2B5EF4-FFF2-40B4-BE49-F238E27FC236}">
                <a16:creationId xmlns:a16="http://schemas.microsoft.com/office/drawing/2014/main" id="{470E6B1F-F935-148C-D7A2-3F5F85D78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391" y="934402"/>
            <a:ext cx="991848" cy="144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718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12328</TotalTime>
  <Pages>0</Pages>
  <Words>696</Words>
  <Characters>0</Characters>
  <Application>Microsoft Office PowerPoint</Application>
  <DocSecurity>0</DocSecurity>
  <PresentationFormat>全屏显示(16:9)</PresentationFormat>
  <Lines>0</Lines>
  <Paragraphs>71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Segoe UI</vt:lpstr>
      <vt:lpstr>Times New Roman</vt:lpstr>
      <vt:lpstr>Wingdings</vt:lpstr>
      <vt:lpstr>TechEd_2012_Template_16x9</vt:lpstr>
      <vt:lpstr>PowerPoint 演示文稿</vt:lpstr>
      <vt:lpstr>课程内容</vt:lpstr>
      <vt:lpstr>评分方法</vt:lpstr>
      <vt:lpstr>教师和助教</vt:lpstr>
    </vt:vector>
  </TitlesOfParts>
  <Manager>&lt;Content Manager Name Here&gt;</Manager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SAE-LR</dc:title>
  <dc:creator>Sonic</dc:creator>
  <cp:lastModifiedBy>潇 晏</cp:lastModifiedBy>
  <cp:revision>956</cp:revision>
  <dcterms:created xsi:type="dcterms:W3CDTF">2012-03-22T18:48:00Z</dcterms:created>
  <dcterms:modified xsi:type="dcterms:W3CDTF">2026-09-11T09:04:23Z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0x010100B88FC3ECA26D1C46B3C4C83281D2EB9C003BBE479AF4108146A616B6B5E7069DBC</vt:lpwstr>
  </property>
  <property fmtid="{D5CDD505-2E9C-101B-9397-08002B2CF9AE}" pid="3" name="Event Venue">
    <vt:lpwstr>232;#Orange County Convention Center Orlando, FL|bd993e89-aa48-4695-84e0-3b53e88b1a79</vt:lpwstr>
  </property>
  <property fmtid="{D5CDD505-2E9C-101B-9397-08002B2CF9AE}" pid="4" name="Event Location">
    <vt:lpwstr>231;#Orlando|99ded043-d247-43a1-9b7a-028ecd66d1eb</vt:lpwstr>
  </property>
  <property fmtid="{D5CDD505-2E9C-101B-9397-08002B2CF9AE}" pid="5" name="Event1">
    <vt:lpwstr>126;#TechEd|ac8fad57-eb30-43a8-b5bd-05dcf2cf2246</vt:lpwstr>
  </property>
  <property fmtid="{D5CDD505-2E9C-101B-9397-08002B2CF9AE}" pid="6" name="KSOProductBuildVer">
    <vt:lpwstr>2052-9.1.0.4180</vt:lpwstr>
  </property>
</Properties>
</file>