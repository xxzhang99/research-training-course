
<file path=[Content_Types].xml><?xml version="1.0" encoding="utf-8"?>
<Types xmlns="http://schemas.openxmlformats.org/package/2006/content-types">
  <Default Extension="jpeg" ContentType="image/jpeg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30"/>
  </p:notesMasterIdLst>
  <p:handoutMasterIdLst>
    <p:handoutMasterId r:id="rId31"/>
  </p:handoutMasterIdLst>
  <p:sldIdLst>
    <p:sldId id="258" r:id="rId2"/>
    <p:sldId id="431" r:id="rId3"/>
    <p:sldId id="432" r:id="rId4"/>
    <p:sldId id="460" r:id="rId5"/>
    <p:sldId id="433" r:id="rId6"/>
    <p:sldId id="434" r:id="rId7"/>
    <p:sldId id="461" r:id="rId8"/>
    <p:sldId id="437" r:id="rId9"/>
    <p:sldId id="438" r:id="rId10"/>
    <p:sldId id="439" r:id="rId11"/>
    <p:sldId id="440" r:id="rId12"/>
    <p:sldId id="462" r:id="rId13"/>
    <p:sldId id="441" r:id="rId14"/>
    <p:sldId id="442" r:id="rId15"/>
    <p:sldId id="443" r:id="rId16"/>
    <p:sldId id="445" r:id="rId17"/>
    <p:sldId id="446" r:id="rId18"/>
    <p:sldId id="449" r:id="rId19"/>
    <p:sldId id="447" r:id="rId20"/>
    <p:sldId id="463" r:id="rId21"/>
    <p:sldId id="451" r:id="rId22"/>
    <p:sldId id="452" r:id="rId23"/>
    <p:sldId id="456" r:id="rId24"/>
    <p:sldId id="453" r:id="rId25"/>
    <p:sldId id="454" r:id="rId26"/>
    <p:sldId id="455" r:id="rId27"/>
    <p:sldId id="458" r:id="rId28"/>
    <p:sldId id="459" r:id="rId29"/>
  </p:sldIdLst>
  <p:sldSz cx="9144000" cy="5143500" type="screen16x9"/>
  <p:notesSz cx="6858000" cy="9144000"/>
  <p:defaultTextStyle>
    <a:defPPr>
      <a:defRPr lang="zh-CN"/>
    </a:defPPr>
    <a:lvl1pPr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342900" indent="1143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685800" indent="2286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028700" indent="3429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371600" indent="4572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">
          <p15:clr>
            <a:srgbClr val="A4A3A4"/>
          </p15:clr>
        </p15:guide>
        <p15:guide id="2" orient="horz" pos="900">
          <p15:clr>
            <a:srgbClr val="A4A3A4"/>
          </p15:clr>
        </p15:guide>
        <p15:guide id="3" orient="horz" pos="2052">
          <p15:clr>
            <a:srgbClr val="A4A3A4"/>
          </p15:clr>
        </p15:guide>
        <p15:guide id="4" orient="horz" pos="3132">
          <p15:clr>
            <a:srgbClr val="A4A3A4"/>
          </p15:clr>
        </p15:guide>
        <p15:guide id="5" orient="horz" pos="1116">
          <p15:clr>
            <a:srgbClr val="A4A3A4"/>
          </p15:clr>
        </p15:guide>
        <p15:guide id="6" orient="horz" pos="684">
          <p15:clr>
            <a:srgbClr val="A4A3A4"/>
          </p15:clr>
        </p15:guide>
        <p15:guide id="7" pos="2880">
          <p15:clr>
            <a:srgbClr val="A4A3A4"/>
          </p15:clr>
        </p15:guide>
        <p15:guide id="8" pos="245">
          <p15:clr>
            <a:srgbClr val="A4A3A4"/>
          </p15:clr>
        </p15:guide>
        <p15:guide id="9" pos="893">
          <p15:clr>
            <a:srgbClr val="A4A3A4"/>
          </p15:clr>
        </p15:guide>
        <p15:guide id="10" pos="5514">
          <p15:clr>
            <a:srgbClr val="A4A3A4"/>
          </p15:clr>
        </p15:guide>
        <p15:guide id="11" pos="5299">
          <p15:clr>
            <a:srgbClr val="A4A3A4"/>
          </p15:clr>
        </p15:guide>
        <p15:guide id="12" pos="45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1" clrIdx="0">
    <p:extLst>
      <p:ext uri="{19B8F6BF-5375-455C-9EA6-DF929625EA0E}">
        <p15:presenceInfo xmlns:p15="http://schemas.microsoft.com/office/powerpoint/2012/main" userId="c8f51119b6961bf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A7E7E"/>
    <a:srgbClr val="F610E6"/>
    <a:srgbClr val="A3D769"/>
    <a:srgbClr val="FBEFC7"/>
    <a:srgbClr val="FFCB25"/>
    <a:srgbClr val="2486C2"/>
    <a:srgbClr val="FFE181"/>
    <a:srgbClr val="E36D6D"/>
    <a:srgbClr val="6F9C2E"/>
    <a:srgbClr val="D5A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93" autoAdjust="0"/>
    <p:restoredTop sz="86575" autoAdjust="0"/>
  </p:normalViewPr>
  <p:slideViewPr>
    <p:cSldViewPr>
      <p:cViewPr varScale="1">
        <p:scale>
          <a:sx n="104" d="100"/>
          <a:sy n="104" d="100"/>
        </p:scale>
        <p:origin x="1264" y="48"/>
      </p:cViewPr>
      <p:guideLst>
        <p:guide orient="horz" pos="108"/>
        <p:guide orient="horz" pos="900"/>
        <p:guide orient="horz" pos="2052"/>
        <p:guide orient="horz" pos="3132"/>
        <p:guide orient="horz" pos="1116"/>
        <p:guide orient="horz" pos="684"/>
        <p:guide pos="2880"/>
        <p:guide pos="245"/>
        <p:guide pos="893"/>
        <p:guide pos="5514"/>
        <p:guide pos="5299"/>
        <p:guide pos="458"/>
      </p:guideLst>
    </p:cSldViewPr>
  </p:slideViewPr>
  <p:outlineViewPr>
    <p:cViewPr>
      <p:scale>
        <a:sx n="33" d="100"/>
        <a:sy n="33" d="100"/>
      </p:scale>
      <p:origin x="0" y="-23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4295" cy="7429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08247A-13B5-491F-9F97-C32DC2A76F1F}" type="datetimeFigureOut">
              <a:rPr lang="zh-CN" altLang="en-US"/>
              <a:pPr>
                <a:defRPr/>
              </a:pPr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BF023A7-28A7-4F76-9563-AF5157558A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4386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Header Placeholder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Segoe U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fld id="{63021AE8-D0B7-4BF6-B781-51FEE193BFAD}" type="datetime1">
              <a:rPr lang="en-US"/>
              <a:pPr>
                <a:defRPr/>
              </a:pPr>
              <a:t>9/18/2026</a:t>
            </a:fld>
            <a:endParaRPr lang="en-US" sz="1200">
              <a:latin typeface="Segoe UI" pitchFamily="34" charset="0"/>
            </a:endParaRPr>
          </a:p>
        </p:txBody>
      </p:sp>
      <p:sp>
        <p:nvSpPr>
          <p:cNvPr id="47108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47109" name="Notes Placeholder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Click to edit Master text styles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Second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Third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Fourth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Fifth level</a:t>
            </a:r>
          </a:p>
        </p:txBody>
      </p:sp>
      <p:sp>
        <p:nvSpPr>
          <p:cNvPr id="10246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617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500">
                <a:latin typeface="Segoe UI" pitchFamily="34" charset="0"/>
                <a:sym typeface="Segoe U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7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172200" y="8685213"/>
            <a:ext cx="684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fld id="{C602B0D3-82A8-4140-9467-B613966B3B70}" type="slidenum">
              <a:rPr lang="en-US"/>
              <a:pPr>
                <a:defRPr/>
              </a:pPr>
              <a:t>‹#›</a:t>
            </a:fld>
            <a:endParaRPr lang="en-US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87260"/>
      </p:ext>
    </p:extLst>
  </p:cSld>
  <p:clrMap bg1="dk2" tx1="lt1" bg2="dk1" tx2="lt2" accent1="accent1" accent2="accent2" accent3="accent3" accent4="accent4" accent5="accent5" accent6="accent6" hlink="hlink" folHlink="folHlink"/>
  <p:hf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9/18/2026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1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0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03AAB-0DEE-0EB9-7DC3-073EF5D0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2D34FDFF-307D-8071-2AC1-03EAE3B48D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2BB485F5-821B-335E-83A5-A9E170177B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>
            <a:extLst>
              <a:ext uri="{FF2B5EF4-FFF2-40B4-BE49-F238E27FC236}">
                <a16:creationId xmlns:a16="http://schemas.microsoft.com/office/drawing/2014/main" id="{4E8E7F5D-0103-9FE8-F627-DD87D2E77AFC}"/>
              </a:ext>
            </a:extLst>
          </p:cNvPr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>
            <a:extLst>
              <a:ext uri="{FF2B5EF4-FFF2-40B4-BE49-F238E27FC236}">
                <a16:creationId xmlns:a16="http://schemas.microsoft.com/office/drawing/2014/main" id="{DC305283-B77B-AA49-9E06-D672706D93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9/18/2026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>
            <a:extLst>
              <a:ext uri="{FF2B5EF4-FFF2-40B4-BE49-F238E27FC236}">
                <a16:creationId xmlns:a16="http://schemas.microsoft.com/office/drawing/2014/main" id="{9267A281-1346-385D-3406-B23236BFFF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>
            <a:extLst>
              <a:ext uri="{FF2B5EF4-FFF2-40B4-BE49-F238E27FC236}">
                <a16:creationId xmlns:a16="http://schemas.microsoft.com/office/drawing/2014/main" id="{650833B8-7D05-7E7A-B4B9-3773969BC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4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795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4294967295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63021AE8-D0B7-4BF6-B781-51FEE193BFAD}" type="datetime1">
              <a:rPr lang="en-US" smtClean="0"/>
              <a:pPr>
                <a:defRPr/>
              </a:pPr>
              <a:t>9/18/2026</a:t>
            </a:fld>
            <a:endParaRPr lang="en-US" sz="1200">
              <a:latin typeface="Segoe UI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02B0D3-82A8-4140-9467-B613966B3B70}" type="slidenum">
              <a:rPr lang="en-US" smtClean="0"/>
              <a:pPr>
                <a:defRPr/>
              </a:pPr>
              <a:t>5</a:t>
            </a:fld>
            <a:endParaRPr lang="en-US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181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4294967295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63021AE8-D0B7-4BF6-B781-51FEE193BFAD}" type="datetime1">
              <a:rPr lang="en-US" smtClean="0"/>
              <a:pPr>
                <a:defRPr/>
              </a:pPr>
              <a:t>9/18/2026</a:t>
            </a:fld>
            <a:endParaRPr lang="en-US" sz="1200">
              <a:latin typeface="Segoe UI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02B0D3-82A8-4140-9467-B613966B3B70}" type="slidenum">
              <a:rPr lang="en-US" smtClean="0"/>
              <a:pPr>
                <a:defRPr/>
              </a:pPr>
              <a:t>6</a:t>
            </a:fld>
            <a:endParaRPr lang="en-US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684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00909-B5DC-0C9F-D2EE-534BD87C3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8E8D2858-D836-ED62-CCF6-0E2418B494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092BBD39-1851-8661-2D18-5833D7E5A7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>
            <a:extLst>
              <a:ext uri="{FF2B5EF4-FFF2-40B4-BE49-F238E27FC236}">
                <a16:creationId xmlns:a16="http://schemas.microsoft.com/office/drawing/2014/main" id="{6E699898-54BE-F119-C57E-4333F72957EB}"/>
              </a:ext>
            </a:extLst>
          </p:cNvPr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>
            <a:extLst>
              <a:ext uri="{FF2B5EF4-FFF2-40B4-BE49-F238E27FC236}">
                <a16:creationId xmlns:a16="http://schemas.microsoft.com/office/drawing/2014/main" id="{5CB49797-1273-EA09-7DEC-8C1259BD02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9/18/2026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>
            <a:extLst>
              <a:ext uri="{FF2B5EF4-FFF2-40B4-BE49-F238E27FC236}">
                <a16:creationId xmlns:a16="http://schemas.microsoft.com/office/drawing/2014/main" id="{06B9357B-B9C1-8AE8-AD1F-31B137B510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>
            <a:extLst>
              <a:ext uri="{FF2B5EF4-FFF2-40B4-BE49-F238E27FC236}">
                <a16:creationId xmlns:a16="http://schemas.microsoft.com/office/drawing/2014/main" id="{2CF268BA-BA3C-75D2-B570-AAD656A18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7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311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0C24-F732-03F7-E560-7B2823567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91C196D7-EA1A-A3CF-C5FB-CD91BB2497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DA080185-F3ED-FFE0-01A2-8DBF07F3D2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>
            <a:extLst>
              <a:ext uri="{FF2B5EF4-FFF2-40B4-BE49-F238E27FC236}">
                <a16:creationId xmlns:a16="http://schemas.microsoft.com/office/drawing/2014/main" id="{2170C746-D5FC-1844-B962-BD8D33B89B30}"/>
              </a:ext>
            </a:extLst>
          </p:cNvPr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>
            <a:extLst>
              <a:ext uri="{FF2B5EF4-FFF2-40B4-BE49-F238E27FC236}">
                <a16:creationId xmlns:a16="http://schemas.microsoft.com/office/drawing/2014/main" id="{EF9CAB93-2DAA-954B-7C6D-C20A7D721D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9/18/2026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>
            <a:extLst>
              <a:ext uri="{FF2B5EF4-FFF2-40B4-BE49-F238E27FC236}">
                <a16:creationId xmlns:a16="http://schemas.microsoft.com/office/drawing/2014/main" id="{13303E79-5589-BD1C-4A01-9B876A0253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>
            <a:extLst>
              <a:ext uri="{FF2B5EF4-FFF2-40B4-BE49-F238E27FC236}">
                <a16:creationId xmlns:a16="http://schemas.microsoft.com/office/drawing/2014/main" id="{2B43978B-BE87-F1B0-B752-BD0D81C92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12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073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81F3-D6A6-98B2-2FE9-5511A68D2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2E824A76-3D16-213A-6B5D-335E4D8807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667B8652-D642-A24B-C847-B91B9657F0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>
            <a:extLst>
              <a:ext uri="{FF2B5EF4-FFF2-40B4-BE49-F238E27FC236}">
                <a16:creationId xmlns:a16="http://schemas.microsoft.com/office/drawing/2014/main" id="{852E45E4-925F-1EF8-0D68-6E76F83783B2}"/>
              </a:ext>
            </a:extLst>
          </p:cNvPr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>
            <a:extLst>
              <a:ext uri="{FF2B5EF4-FFF2-40B4-BE49-F238E27FC236}">
                <a16:creationId xmlns:a16="http://schemas.microsoft.com/office/drawing/2014/main" id="{15954F93-75A0-D9CE-8786-DAB74BBE77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9/18/2026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>
            <a:extLst>
              <a:ext uri="{FF2B5EF4-FFF2-40B4-BE49-F238E27FC236}">
                <a16:creationId xmlns:a16="http://schemas.microsoft.com/office/drawing/2014/main" id="{191849D8-6C3D-3E39-0A8C-CFADF2D807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>
            <a:extLst>
              <a:ext uri="{FF2B5EF4-FFF2-40B4-BE49-F238E27FC236}">
                <a16:creationId xmlns:a16="http://schemas.microsoft.com/office/drawing/2014/main" id="{312A4C4B-3972-7D87-7A15-08D6B0743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20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186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B0F4-7C75-4EFA-8EE7-F47BD171C7FF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721E-7253-463E-886E-DCB3B32C17B4}" type="datetime1">
              <a:rPr lang="zh-CN" altLang="en-US"/>
              <a:pPr>
                <a:defRPr/>
              </a:pPr>
              <a:t>2026/9/18</a:t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805700"/>
      </p:ext>
    </p:extLst>
  </p:cSld>
  <p:clrMapOvr>
    <a:masterClrMapping/>
  </p:clrMapOvr>
  <p:transition spd="med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8938" y="171450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>
                <a:sym typeface="Arial" charset="0"/>
              </a:rPr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938" y="1085850"/>
            <a:ext cx="836453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>
                <a:sym typeface="Segoe U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Segoe UI" pitchFamily="34" charset="0"/>
              </a:rPr>
              <a:t>Second level</a:t>
            </a:r>
          </a:p>
          <a:p>
            <a:pPr lvl="2"/>
            <a:r>
              <a:rPr lang="en-US" altLang="zh-CN">
                <a:sym typeface="Segoe UI" pitchFamily="34" charset="0"/>
              </a:rPr>
              <a:t>Third level</a:t>
            </a:r>
          </a:p>
          <a:p>
            <a:pPr lvl="3"/>
            <a:r>
              <a:rPr lang="en-US" altLang="zh-CN">
                <a:sym typeface="Segoe UI" pitchFamily="34" charset="0"/>
              </a:rPr>
              <a:t>Fourth level</a:t>
            </a:r>
          </a:p>
          <a:p>
            <a:pPr lvl="4"/>
            <a:r>
              <a:rPr lang="en-US" altLang="zh-CN">
                <a:sym typeface="Segoe UI" pitchFamily="34" charset="0"/>
              </a:rPr>
              <a:t>Fifth level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10400" y="4800600"/>
            <a:ext cx="21336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i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514A1D8F-DE77-4FE1-B39D-0EE60C975DF4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1A085-D558-4921-9F16-599A489A6F10}" type="datetime1">
              <a:rPr lang="zh-CN" altLang="en-US"/>
              <a:pPr>
                <a:defRPr/>
              </a:pPr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4" r:id="rId1"/>
  </p:sldLayoutIdLst>
  <p:transition spd="med">
    <p:push/>
  </p:transition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  <a:sym typeface="Arial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9pPr>
    </p:titleStyle>
    <p:bodyStyle>
      <a:lvl1pPr marL="346075" indent="-3460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2400">
          <a:solidFill>
            <a:schemeClr val="tx1"/>
          </a:solidFill>
          <a:latin typeface="+mn-lt"/>
          <a:ea typeface="+mn-ea"/>
          <a:cs typeface="+mn-cs"/>
          <a:sym typeface="Segoe UI" pitchFamily="34" charset="0"/>
        </a:defRPr>
      </a:lvl1pPr>
      <a:lvl2pPr marL="641350" indent="-2952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2100">
          <a:solidFill>
            <a:schemeClr val="tx1"/>
          </a:solidFill>
          <a:latin typeface="+mn-lt"/>
          <a:cs typeface="+mn-cs"/>
          <a:sym typeface="Segoe UI" pitchFamily="34" charset="0"/>
        </a:defRPr>
      </a:lvl2pPr>
      <a:lvl3pPr marL="942975" indent="-30162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>
          <a:solidFill>
            <a:schemeClr val="tx1"/>
          </a:solidFill>
          <a:latin typeface="+mn-lt"/>
          <a:cs typeface="+mn-cs"/>
          <a:sym typeface="Segoe UI" pitchFamily="34" charset="0"/>
        </a:defRPr>
      </a:lvl3pPr>
      <a:lvl4pPr marL="1203325" indent="-258763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4pPr>
      <a:lvl5pPr marL="1455738" indent="-252413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5pPr>
      <a:lvl6pPr marL="19129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6pPr>
      <a:lvl7pPr marL="23701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7pPr>
      <a:lvl8pPr marL="28273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8pPr>
      <a:lvl9pPr marL="32845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1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/>
          <p:cNvSpPr txBox="1">
            <a:spLocks/>
          </p:cNvSpPr>
          <p:nvPr/>
        </p:nvSpPr>
        <p:spPr bwMode="auto">
          <a:xfrm>
            <a:off x="0" y="1347292"/>
            <a:ext cx="9144000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科研训练三</a:t>
            </a:r>
          </a:p>
          <a:p>
            <a:pPr algn="ctr"/>
            <a:endParaRPr lang="en-US" altLang="zh-CN" sz="2400" dirty="0">
              <a:solidFill>
                <a:srgbClr val="363535"/>
              </a:solidFill>
              <a:latin typeface="微软雅黑"/>
              <a:ea typeface="微软雅黑"/>
              <a:cs typeface="Times New Roman"/>
            </a:endParaRPr>
          </a:p>
          <a:p>
            <a:pPr algn="ctr"/>
            <a:r>
              <a:rPr lang="en-US" altLang="zh-CN" sz="2400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2 </a:t>
            </a:r>
            <a:r>
              <a:rPr lang="zh-CN" altLang="en-US" sz="2400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论文阅读与调研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73649A2A-3FD1-1348-448F-0C12696CF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" y="78611"/>
            <a:ext cx="706998" cy="706998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449B51A6-6D74-88A1-603D-14FBB283D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314700"/>
            <a:ext cx="9144000" cy="864010"/>
          </a:xfrm>
        </p:spPr>
        <p:txBody>
          <a:bodyPr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晏潇 博士</a:t>
            </a:r>
            <a:endParaRPr lang="en-US" altLang="zh-CN" sz="18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读论文的困惑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5" name="文本框 1"/>
          <p:cNvSpPr txBox="1"/>
          <p:nvPr/>
        </p:nvSpPr>
        <p:spPr>
          <a:xfrm>
            <a:off x="-11887" y="4572000"/>
            <a:ext cx="3453688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S. Keshav, How to Read a Paper, SIGCOMM CCR 2007.</a:t>
            </a:r>
          </a:p>
        </p:txBody>
      </p:sp>
      <p:sp>
        <p:nvSpPr>
          <p:cNvPr id="41994" name="Content Placeholder 2"/>
          <p:cNvSpPr txBox="1"/>
          <p:nvPr/>
        </p:nvSpPr>
        <p:spPr>
          <a:xfrm>
            <a:off x="80467" y="685800"/>
            <a:ext cx="7834808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「论文都看了，研究还是不知道怎么做」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目的不清：读了大量论文，但对研究的推进作用不明显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没有思考：困在论文的逻辑里，没有形成自己的判断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找不出文章的问题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缺少比较：关注单篇论文，没有多篇论文横向对比和总结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只读不动手：不动手进行实现和实验，缺乏第一手经验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本讲目标：把「读过」推进到「能理解·能质疑 ·能比较 · 能发现问题」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阅读，思考，动手三位一体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3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调研流程：找 → 筛 → 读 → 懂 → 比 → 问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pic>
        <p:nvPicPr>
          <p:cNvPr id="41995" name="图片 93" descr="l2_fig_six.png"/>
          <p:cNvPicPr>
            <a:picLocks noChangeAspect="1"/>
          </p:cNvPicPr>
          <p:nvPr/>
        </p:nvPicPr>
        <p:blipFill>
          <a:blip r:embed="rId3"/>
          <a:srcRect t="12649" b="13526"/>
          <a:stretch>
            <a:fillRect/>
          </a:stretch>
        </p:blipFill>
        <p:spPr>
          <a:xfrm>
            <a:off x="1600200" y="2348865"/>
            <a:ext cx="6383003" cy="1458972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六步循环，每一步都形成文字，用写来驱动想清楚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找 → 阅读目标｜筛 → 搜索记录｜读 → 阅读笔记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懂 → 实现或讲解｜比 → 比较表｜问 → 问题描述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A87A-C8B1-76CA-113A-8872B512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>
            <a:extLst>
              <a:ext uri="{FF2B5EF4-FFF2-40B4-BE49-F238E27FC236}">
                <a16:creationId xmlns:a16="http://schemas.microsoft.com/office/drawing/2014/main" id="{EA76ED3F-9C75-D41E-5F59-C96DEE48EADF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>
              <a:extLst>
                <a:ext uri="{FF2B5EF4-FFF2-40B4-BE49-F238E27FC236}">
                  <a16:creationId xmlns:a16="http://schemas.microsoft.com/office/drawing/2014/main" id="{801D47E6-876C-6EB9-59F5-995DBD6BB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>
              <a:extLst>
                <a:ext uri="{FF2B5EF4-FFF2-40B4-BE49-F238E27FC236}">
                  <a16:creationId xmlns:a16="http://schemas.microsoft.com/office/drawing/2014/main" id="{2564433D-BD9A-07E5-BAFD-41D777E4264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>
            <a:extLst>
              <a:ext uri="{FF2B5EF4-FFF2-40B4-BE49-F238E27FC236}">
                <a16:creationId xmlns:a16="http://schemas.microsoft.com/office/drawing/2014/main" id="{3C0FA88F-FF20-F15E-653E-B1E857A6AF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4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8D48711-E333-2338-418F-4B975D767896}"/>
              </a:ext>
            </a:extLst>
          </p:cNvPr>
          <p:cNvSpPr txBox="1">
            <a:spLocks/>
          </p:cNvSpPr>
          <p:nvPr/>
        </p:nvSpPr>
        <p:spPr bwMode="auto">
          <a:xfrm>
            <a:off x="0" y="2079307"/>
            <a:ext cx="914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阅读目标</a:t>
            </a:r>
          </a:p>
        </p:txBody>
      </p:sp>
    </p:spTree>
    <p:extLst>
      <p:ext uri="{BB962C8B-B14F-4D97-AF65-F5344CB8AC3E}">
        <p14:creationId xmlns:p14="http://schemas.microsoft.com/office/powerpoint/2010/main" val="261949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5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阅读目标：文献阅读和教材学习有什么不同？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5" name="文本框 1"/>
          <p:cNvSpPr txBox="1"/>
          <p:nvPr/>
        </p:nvSpPr>
        <p:spPr>
          <a:xfrm>
            <a:off x="-11887" y="4572000"/>
            <a:ext cx="3453688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S. Keshav, How to Read a Paper, SIGCOMM CCR 2007.</a:t>
            </a:r>
          </a:p>
        </p:txBody>
      </p:sp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教材学习 · 知识覆盖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目标：把一块知识系统地过一遍｜路径：按章节往下推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深度：各章差不多，平均分配｜评价：考过就算完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文献阅读 · 任务驱动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目标：解决手头这个具体问题｜路径：哪篇相关就看哪篇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深度：跟问题越相关读得越深｜评价：问题、证据、贡献经不经得起推敲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三个差别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提取有用的内容，不用第一页读到最后一页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差异化阅读，有的论文 5 分钟就够，有的要花 5 小时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读完要有思考、判断或问题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6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按需学习：遇到障碍再定向补背景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-103600" y="689429"/>
            <a:ext cx="8979408" cy="415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五步循环：研究任务 → 开始阅读 → 发现障碍 → 定向补课 → 返回任务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先抓主干，卡在术语、理论或工具上再停下来补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只补必要部分，补完立刻回到原来的阅读产出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什么时候算补课完成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理解这个问题方向上核心论文的论述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警惕「无限补课」陷阱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越补越多，记不清最初要回答什么；把补课当成任务，从未回到主问题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补着补着超出任务范围，时间就这么没了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明确阅读目标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目的：这次是为选题、复现、做方案，还是写东西？</a:t>
            </a: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核心问题：读完必须能回答哪些具体问题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18946-04BF-B5D8-CEC5-8849BBE6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>
            <a:extLst>
              <a:ext uri="{FF2B5EF4-FFF2-40B4-BE49-F238E27FC236}">
                <a16:creationId xmlns:a16="http://schemas.microsoft.com/office/drawing/2014/main" id="{26265BCE-D40C-3AAA-3951-3BD7308B09A7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>
              <a:extLst>
                <a:ext uri="{FF2B5EF4-FFF2-40B4-BE49-F238E27FC236}">
                  <a16:creationId xmlns:a16="http://schemas.microsoft.com/office/drawing/2014/main" id="{CD02440A-A338-6EE2-C7D4-FB7915FE4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>
              <a:extLst>
                <a:ext uri="{FF2B5EF4-FFF2-40B4-BE49-F238E27FC236}">
                  <a16:creationId xmlns:a16="http://schemas.microsoft.com/office/drawing/2014/main" id="{6D038ADE-759E-C298-F6DB-58B384EC187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>
            <a:extLst>
              <a:ext uri="{FF2B5EF4-FFF2-40B4-BE49-F238E27FC236}">
                <a16:creationId xmlns:a16="http://schemas.microsoft.com/office/drawing/2014/main" id="{EA9A1E34-4A2F-5501-8F70-22A0F25170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7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20D7BD83-A1E6-7B3A-77E7-F44F3606AA46}"/>
              </a:ext>
            </a:extLst>
          </p:cNvPr>
          <p:cNvSpPr txBox="1">
            <a:spLocks/>
          </p:cNvSpPr>
          <p:nvPr/>
        </p:nvSpPr>
        <p:spPr bwMode="auto">
          <a:xfrm>
            <a:off x="0" y="2079307"/>
            <a:ext cx="914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论文检索</a:t>
            </a:r>
          </a:p>
        </p:txBody>
      </p:sp>
    </p:spTree>
    <p:extLst>
      <p:ext uri="{BB962C8B-B14F-4D97-AF65-F5344CB8AC3E}">
        <p14:creationId xmlns:p14="http://schemas.microsoft.com/office/powerpoint/2010/main" val="20900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8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论文检索：把调研内容细化为可检索的关键词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5" name="文本框 1"/>
          <p:cNvSpPr txBox="1"/>
          <p:nvPr/>
        </p:nvSpPr>
        <p:spPr>
          <a:xfrm>
            <a:off x="-11887" y="4572000"/>
            <a:ext cx="3386937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 dirty="0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ACM DL Search Guide; Google Scholar Search Help.</a:t>
            </a:r>
          </a:p>
        </p:txBody>
      </p:sp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五类关键词：对象 + 任务 + 方法 + 场景 + 指标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对象：cluster computing · distributed system · big data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任务：iterative analytics · interactive query · graph processing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方法：in-memory caching · dataflow · lineage · BSP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场景：large scale · fault tolerant · multi-tenant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指标：latency · I/O overhead · iteration speedup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组合检索式与单关键词陷阱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示例："iterative data processing" AND "in-memory" AND "fault tolerance"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只搜 “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big data”，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上万篇根本不收敛；只搜 "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MapReduce"，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大多是应用类，改进类反而少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同义词扩展：in-memory → cache-resident · RAM-based；fault tolerance → resilience · recovery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9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检索是逐轮收敛，而不是一次命中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pic>
        <p:nvPicPr>
          <p:cNvPr id="41995" name="图片 99" descr="l2_fig_conve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497" y="2542339"/>
            <a:ext cx="6231213" cy="221372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-182880" y="753237"/>
            <a:ext cx="8979408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四轮收敛：宽检索 → 引用追踪 → 限定范围 → 稳定集合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第一轮宽检索：摸清这个方向的核心术语，找出综述和经典工作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第二轮引用追踪：向前找改进 / 反例 / 扩展，向后找概念源头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第三轮限定范围：把任务、数据集、指标收紧，加上约束词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第四轮稳定集合：新论文不再带来新维度，涵盖经典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+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新代表作，开始精读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10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种子论文 + 双向引用追踪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-103600" y="659282"/>
            <a:ext cx="89794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种子论文的三特征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与目标问题高度相关：你写出的核心问题，它就在解决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引用网络丰富：后续工作几乎都引用它，多篇论文拿它当比较基线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种子论文不用是「最好的」，但得是最相关、最被引、最清楚的那一篇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双向追踪：领域地图沿引用关系逐步长出来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向后追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References ——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找概念来源 / 基础方法 / 被继承的假设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向前追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Cited by ——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找后续改进 / 反例 / 扩展场景 / 新问题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工具：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Google Scholar · Semantic Scholar · Connected Papers · DBLP</a:t>
            </a:r>
          </a:p>
        </p:txBody>
      </p:sp>
      <p:pic>
        <p:nvPicPr>
          <p:cNvPr id="2" name="图片 90" descr="l2_fig_citation.png">
            <a:extLst>
              <a:ext uri="{FF2B5EF4-FFF2-40B4-BE49-F238E27FC236}">
                <a16:creationId xmlns:a16="http://schemas.microsoft.com/office/drawing/2014/main" id="{FF47E777-D479-850D-4480-F778113BFC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622" b="7915"/>
          <a:stretch>
            <a:fillRect/>
          </a:stretch>
        </p:blipFill>
        <p:spPr>
          <a:xfrm>
            <a:off x="1613557" y="3521604"/>
            <a:ext cx="5545094" cy="13046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11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四类检索来源 + 关键学者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5" name="文本框 1"/>
          <p:cNvSpPr txBox="1"/>
          <p:nvPr/>
        </p:nvSpPr>
        <p:spPr>
          <a:xfrm>
            <a:off x="-11887" y="4572000"/>
            <a:ext cx="2519172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S. Keshav, 2007; arXiv Search Help.</a:t>
            </a:r>
          </a:p>
        </p:txBody>
      </p:sp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3320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四类来源各有侧重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Google Scholar：跨领域入口与被引追踪｜DBLP：会议期刊书目与作者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ACM DL / IEEE Xplore：正式出版版本与元数据｜arXiv：最新预印本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Google Scholar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的关注和提醒功能值得用起来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关键学者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搞清楚你这个方向、这个问题上有哪些主要的人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定期看看他们最近发了什么、讲了什么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朋友圈公众号博客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作为跟踪研究方向的补充，不是主要论文来源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76A1A-9737-6492-5D6E-1D0606E8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>
            <a:extLst>
              <a:ext uri="{FF2B5EF4-FFF2-40B4-BE49-F238E27FC236}">
                <a16:creationId xmlns:a16="http://schemas.microsoft.com/office/drawing/2014/main" id="{55FA0ACD-0E73-ED80-11A3-70FF5FEDDDB2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>
              <a:extLst>
                <a:ext uri="{FF2B5EF4-FFF2-40B4-BE49-F238E27FC236}">
                  <a16:creationId xmlns:a16="http://schemas.microsoft.com/office/drawing/2014/main" id="{AE0F9419-F344-B8AA-5613-D15C1EBC7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>
              <a:extLst>
                <a:ext uri="{FF2B5EF4-FFF2-40B4-BE49-F238E27FC236}">
                  <a16:creationId xmlns:a16="http://schemas.microsoft.com/office/drawing/2014/main" id="{3F0AE92B-1892-9B2D-4FD4-3FEA05D714A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>
            <a:extLst>
              <a:ext uri="{FF2B5EF4-FFF2-40B4-BE49-F238E27FC236}">
                <a16:creationId xmlns:a16="http://schemas.microsoft.com/office/drawing/2014/main" id="{F84CC543-EC0D-CD61-0C32-7303816DE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12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04A8778E-E306-88D1-33DF-9BDCE3B0AAF9}"/>
              </a:ext>
            </a:extLst>
          </p:cNvPr>
          <p:cNvSpPr txBox="1">
            <a:spLocks/>
          </p:cNvSpPr>
          <p:nvPr/>
        </p:nvSpPr>
        <p:spPr bwMode="auto">
          <a:xfrm>
            <a:off x="0" y="2079307"/>
            <a:ext cx="914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论文阅读</a:t>
            </a:r>
          </a:p>
        </p:txBody>
      </p:sp>
    </p:spTree>
    <p:extLst>
      <p:ext uri="{BB962C8B-B14F-4D97-AF65-F5344CB8AC3E}">
        <p14:creationId xmlns:p14="http://schemas.microsoft.com/office/powerpoint/2010/main" val="203704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13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阅读价值 = 质量 × 当前相关性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pic>
        <p:nvPicPr>
          <p:cNvPr id="41996" name="图片 92" descr="l2_fig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068" y="2132001"/>
            <a:ext cx="5608027" cy="2674597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114300" y="742599"/>
            <a:ext cx="8979408" cy="1520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两个维度决定一篇论文值得投入多少时间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质量：方法是否有代表性、有没有同行评审、论证严不严谨、被引得多不多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相关性：跟目前手上的问题多相关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四个象限，四种处理方式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14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三步文献阅读法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0" y="714375"/>
            <a:ext cx="897940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第一遍 · 鸟瞰：5–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 分钟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看摘要 · 引言 · 章节标题 · 结论，跳过正文细节与证明；判断论文质量，筛掉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90%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第二遍 · 理解：小时级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抓住主张、方法和关键证据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第三遍 · 验证：不限</a:t>
            </a: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复述论文，提出质疑和思路，并进行实际实现</a:t>
            </a:r>
          </a:p>
        </p:txBody>
      </p:sp>
      <p:pic>
        <p:nvPicPr>
          <p:cNvPr id="2" name="图片 93" descr="l2_fig_three_pass.png">
            <a:extLst>
              <a:ext uri="{FF2B5EF4-FFF2-40B4-BE49-F238E27FC236}">
                <a16:creationId xmlns:a16="http://schemas.microsoft.com/office/drawing/2014/main" id="{B87F4C18-03B8-F68F-EFA3-FC3502B73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439" y="3007530"/>
            <a:ext cx="5374530" cy="17637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15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第一遍 · 鸟瞰：要不要继续读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-103600" y="714375"/>
            <a:ext cx="8979408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四步鸟瞰，5–10 分钟完成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标题 · 摘要 · 引言 —— 这一篇做了什么？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章节与小节标题 —— 结构是实验 / 分析 / 原型 / 理论哪一种？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结论 —— 作者自己怎么说做到了？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参考文献并标记熟悉项 —— 有哪些与我读过的重叠？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完成标准：能回答「五个 C」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Category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论文类型：这篇是测量、分析、原型、理论，还是综述？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Context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研究语境：它属于哪个领域，跟哪些已有工作接得上？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Correctness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初步正确性：关键假设看起来成立吗？有无反例或明显漏洞？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Contributions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主要贡献：作者声称做了什么新的事？是方法、数据还是洞见？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Clarity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表达清晰度：论证是否容易跟？图表是否清楚？术语是否定义？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16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第二遍 · 理解：主张 × 证据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35923" y="773165"/>
            <a:ext cx="8979408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读什么 · 怎么看 · 记什么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读什么：正文主干，大体思路，跳过复杂证明与非关键实现细节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怎么看：图表的坐标、单位、误差、样本量、实验条件都要看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记什么：关键观点、疑问、没读的引用，以及主张和证据的对应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示例 · MapReduce 的四组主张与证据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可扩展到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TB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级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← 1 TB Sort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基准实验，约 3 分钟完成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具备容错能力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←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主动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kill 200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worker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后任务仍成功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易于使用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←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用户只需写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Map / Reduce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两个函数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完成标准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能用三句话讲清楚：主张什么 · 方法核心是什么 · 关键证据是什么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每个主张后面都有可指向的实验 / 图表 / 证明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17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第三遍 · 验证：虚拟重新实现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五个动作，从重建走到延伸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重建：合上论文，自己把问题、方法、实验回顾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挑战：明说的假设有哪些，默认的又有哪些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比较：换成我的方案，差别会在哪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验证：这些证据真能撑住它的主张吗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延伸：记下能改的地方、反例和接着能做的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实际实现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论文的逻辑大多自洽，有时看不出问题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动手跑实验才能有第一手经验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18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用七段式提纲重建论文论证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19594" y="668303"/>
            <a:ext cx="8979408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七段结构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25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</a:pP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25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</a:pP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以 RDD 论文（NSDI 2012）为例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Problem：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迭代与交互式分析在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MapReduce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上很慢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Prior assumption：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跨阶段共享数据必须经稳定存储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Insight：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工作集留在内存，容错靠血缘重算而非复制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Proof：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迭代场景快约 20 倍，同时说清明细粒度更新做不了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评分关注三项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Accuracy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主张是否准确还原 ·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Completeness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是否漏掉关键段 ·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Clarity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别人能否看懂</a:t>
            </a:r>
          </a:p>
        </p:txBody>
      </p:sp>
      <p:pic>
        <p:nvPicPr>
          <p:cNvPr id="2" name="图片 90" descr="l2_fig_seven.png">
            <a:extLst>
              <a:ext uri="{FF2B5EF4-FFF2-40B4-BE49-F238E27FC236}">
                <a16:creationId xmlns:a16="http://schemas.microsoft.com/office/drawing/2014/main" id="{C2B9586F-2223-424D-FF7A-BAC103CBD5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51" b="29328"/>
          <a:stretch>
            <a:fillRect/>
          </a:stretch>
        </p:blipFill>
        <p:spPr>
          <a:xfrm>
            <a:off x="1177970" y="1085850"/>
            <a:ext cx="7045371" cy="1237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19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什么样的论文值得成为核心文献？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几个判据 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直接相关：直接影响研究问题 / 方法 / 评估 —— 研究迭代系统 → RDD ✔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反复出现：多篇工作共同引用或比较 —— 近年多篇工作都引它 ✔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代表性强：提出关键概念 / 基线 / 范式 —— 提出 lineage 这一新抽象 ✔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可操作：能用于实现 / 复现 / 方案设计 —— 有开源实现 + 公开数据 ✔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时效性：领域里主要团队近三年的相关工作 ✔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数量原则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典型研究方向的核心文献集合约 3–8 篇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多于 10 篇说明还没收敛；少于 2 篇说明视野太窄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5F735-C71D-37FA-A28C-2E7B4BF9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>
            <a:extLst>
              <a:ext uri="{FF2B5EF4-FFF2-40B4-BE49-F238E27FC236}">
                <a16:creationId xmlns:a16="http://schemas.microsoft.com/office/drawing/2014/main" id="{7E753D2E-AEE8-C680-4776-D60EB84F96E6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>
              <a:extLst>
                <a:ext uri="{FF2B5EF4-FFF2-40B4-BE49-F238E27FC236}">
                  <a16:creationId xmlns:a16="http://schemas.microsoft.com/office/drawing/2014/main" id="{B2E04316-46BB-AC8D-D136-3DCC07745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>
              <a:extLst>
                <a:ext uri="{FF2B5EF4-FFF2-40B4-BE49-F238E27FC236}">
                  <a16:creationId xmlns:a16="http://schemas.microsoft.com/office/drawing/2014/main" id="{BD9BC21D-3AFA-7C9E-2989-5E97063ECCF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>
            <a:extLst>
              <a:ext uri="{FF2B5EF4-FFF2-40B4-BE49-F238E27FC236}">
                <a16:creationId xmlns:a16="http://schemas.microsoft.com/office/drawing/2014/main" id="{90E69CF9-C9E9-6D5E-0F9A-4CFF86E757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20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5679856D-D18F-79A9-E670-F2B4BC749A17}"/>
              </a:ext>
            </a:extLst>
          </p:cNvPr>
          <p:cNvSpPr txBox="1">
            <a:spLocks/>
          </p:cNvSpPr>
          <p:nvPr/>
        </p:nvSpPr>
        <p:spPr bwMode="auto">
          <a:xfrm>
            <a:off x="0" y="2079307"/>
            <a:ext cx="914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论文总结与思路形成</a:t>
            </a:r>
          </a:p>
        </p:txBody>
      </p:sp>
    </p:spTree>
    <p:extLst>
      <p:ext uri="{BB962C8B-B14F-4D97-AF65-F5344CB8AC3E}">
        <p14:creationId xmlns:p14="http://schemas.microsoft.com/office/powerpoint/2010/main" val="14014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21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跨论文比较：做表之前先确定比较目的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5" name="文本框 1"/>
          <p:cNvSpPr txBox="1"/>
          <p:nvPr/>
        </p:nvSpPr>
        <p:spPr>
          <a:xfrm>
            <a:off x="-11887" y="4572000"/>
            <a:ext cx="2585923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Booth et al., The Craft of Research.</a:t>
            </a:r>
          </a:p>
        </p:txBody>
      </p:sp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比什么，取决于你想回答什么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找基线：我要跟谁比？任务、数据、指标对不对得上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找瓶颈：它卡在哪？看假设、资源占用和失败场景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选方法：哪个更适合我？比效果、效率、成本和部署难度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找问题：还差什么？看共识、冲突、边界和取舍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表头设计三条原则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先写出「我要回答的比较问题」→ 再决定列 → 不机械套用固定模板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列的取值应是「事实」而非「主观感受」—— 用 latency / throughput，不用「好」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保持表头稳定，方便不同轮次补充论文，否则每次都要重新对齐列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22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比较表实例 · MapReduce vs RDD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5" name="文本框 1"/>
          <p:cNvSpPr txBox="1"/>
          <p:nvPr/>
        </p:nvSpPr>
        <p:spPr>
          <a:xfrm>
            <a:off x="-11887" y="4572000"/>
            <a:ext cx="2986430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 dirty="0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Zaharia et al., RDD, NSDI 2012, Fig. 4–5.</a:t>
            </a:r>
          </a:p>
        </p:txBody>
      </p:sp>
      <p:pic>
        <p:nvPicPr>
          <p:cNvPr id="41996" name="图片 93" descr="l2_rdd_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281" y="2200275"/>
            <a:ext cx="2738719" cy="1542012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10341" y="690074"/>
            <a:ext cx="6344739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七个共同维度上的差异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工作负载：大规模批处理 ↔ 迭代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ML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与交互分析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数据共享：跨阶段写入稳定存储 ↔ 工作集可在内存持久化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容错机制：失败任务重新执行 ↔ 沿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lineage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重建丢失分区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主要开销：磁盘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I/O +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序列化 ↔ 内存占用 + 窄依赖约束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抽象层级：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Map / Reduce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函数 ↔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RDD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变换（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transformation）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读表时重点找三样东西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反复出现的假设：所有方法都默认了什么前提？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无法同时满足的目标：效果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效率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开销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适应性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证据覆盖不到的范围：实验只跑了哪些？还有哪些没测？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同一维度上的差异，比逐篇摘要更容易暴露假设和权衡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C535-F257-14CA-8ADE-3BDAFF3B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B8C52557-0AD9-A4F0-CAC4-2387384732D7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32394710-2C4A-2C63-9C53-9AF5C7DA8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77A2D2D2-9EA6-3030-10EB-25FB0685635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3CF32930-9583-7F4A-C40B-5DAE9C47F2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23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548108E2-996E-4AA4-C7A1-2536C654D5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>
            <a:extLst>
              <a:ext uri="{FF2B5EF4-FFF2-40B4-BE49-F238E27FC236}">
                <a16:creationId xmlns:a16="http://schemas.microsoft.com/office/drawing/2014/main" id="{CB56AABA-D15B-9B13-1543-F95522253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通过表比较方法的例子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1A2608CA-833F-83FB-1558-BC444D4E6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506686A-BB4F-19EC-7A95-5B0680E91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17" y="1085850"/>
            <a:ext cx="9011177" cy="285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4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24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从哪些方面发现问题？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-125458" y="662175"/>
            <a:ext cx="4531995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四个扫描维度</a:t>
            </a: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效果 / 质量：做得对不对、好不好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准确率、覆盖率、结论可不可信</a:t>
            </a: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效率：快不快、能撑多大规模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延迟、吞吐、收敛速度、扩展性</a:t>
            </a: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开销：要花多少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算力、内存、通信、能耗，还有实际金钱成本</a:t>
            </a: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适应性：换个环境还灵不灵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数据、规模、硬件或任务变了以后还成不成立</a:t>
            </a:r>
          </a:p>
        </p:txBody>
      </p:sp>
      <p:pic>
        <p:nvPicPr>
          <p:cNvPr id="2" name="图片 94" descr="l2_fig_scan.png">
            <a:extLst>
              <a:ext uri="{FF2B5EF4-FFF2-40B4-BE49-F238E27FC236}">
                <a16:creationId xmlns:a16="http://schemas.microsoft.com/office/drawing/2014/main" id="{9238276A-2DBD-8448-740E-A203204035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79" b="4806"/>
          <a:stretch>
            <a:fillRect/>
          </a:stretch>
        </p:blipFill>
        <p:spPr>
          <a:xfrm>
            <a:off x="4585182" y="3217973"/>
            <a:ext cx="4348726" cy="150724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82350-7F53-9B16-CF95-0225B10CD2EC}"/>
              </a:ext>
            </a:extLst>
          </p:cNvPr>
          <p:cNvSpPr txBox="1"/>
          <p:nvPr/>
        </p:nvSpPr>
        <p:spPr>
          <a:xfrm>
            <a:off x="4402183" y="803154"/>
            <a:ext cx="419644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四维权衡示例 · MapReduce → RDD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效率 ↑（迭代从 30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到 1.5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s）vs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开销 ↑（占用内存）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适应性 ↑（支持交互查询）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边界收窄（不适合异步细粒度更新）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任何改进都是权衡 —— 说不出代价的「提升」通常没抓到机理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25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用 5 要素模板把观察写成可检验的问题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0" y="728346"/>
            <a:ext cx="8979408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 要素：场景 · 已有方法 · 可测不足 · 可能机理 · 研究问题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目标场景：在什么数据、什么规模、什么约束下？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已有方法：现在大家怎么做，靠的是什么假设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可测不足：效果、速度、开销，哪块撑不住？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可能机理：为什么会这样，不只是「是什么」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研究问题：能改善主目标吗，代价又是什么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改进空间：最理想情况下，改进的增益有多大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示例 · MapReduce → RDD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场景：迭代机器学习｜方法：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MapReduce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｜假设：跨阶段经稳定存储共享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方向：在内存中复用工作集 +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lineage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容错｜主目标：效率 ↑，开销可控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不足：重复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I/O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导致高延迟｜机理：工作集被反复读取但缺可容错的内存复用抽象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26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回头看和跳出看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0" y="742599"/>
            <a:ext cx="9118201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论文不是读完就好，要时常重看之前看过的重要论文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看过其他文章，做过实现和实验，对内容有新理解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借回头看串联和反思近期研究，形成思路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“煎熬的周六下午”：只翻论文和笔记，不写代码和论文，强迫思考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跳出文章看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文章的核心并不总是方法，能发表的论文大多能自圆其说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跳出方法本身，看它用的数据集（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 distribution / OOD）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、场景（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batch /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流式）和实验配置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很多时候机会不在方法本身，而在这些周边内容里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思路讨论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随时和同学导师等讲你的理解和思路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表达的过程帮你想清楚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BBA48-0ED1-6A29-CBFA-05F3895F8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A187ADB0-E966-7395-5155-4C2AFF589314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CEB03DE1-C8E5-6FC8-4F3F-0CC81F587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C672CD17-4B89-1E05-9E33-F70D755854A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F36E3DC4-27C6-3136-3CC2-4C664E2EC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27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7E59A180-A00F-043C-C96E-FE3D68AE99C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>
            <a:extLst>
              <a:ext uri="{FF2B5EF4-FFF2-40B4-BE49-F238E27FC236}">
                <a16:creationId xmlns:a16="http://schemas.microsoft.com/office/drawing/2014/main" id="{67AF7DAF-D0CA-7964-9B82-9928EF3E5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看其他领域的论文和听报告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579C3978-9D88-31EE-6C10-69E877B89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>
            <a:extLst>
              <a:ext uri="{FF2B5EF4-FFF2-40B4-BE49-F238E27FC236}">
                <a16:creationId xmlns:a16="http://schemas.microsoft.com/office/drawing/2014/main" id="{C2D6F3C3-EB40-8968-B20F-D7845D8FEE81}"/>
              </a:ext>
            </a:extLst>
          </p:cNvPr>
          <p:cNvSpPr txBox="1"/>
          <p:nvPr/>
        </p:nvSpPr>
        <p:spPr>
          <a:xfrm>
            <a:off x="0" y="742599"/>
            <a:ext cx="9118201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了解其他领域，对于做好本领域也非常重要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借鉴：其他领域的工具和方法有可能解决手上的问题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结合：联合其他领域，定义新问题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对计算机领域的重要进展应该保持跟进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公众号、演讲视频都是省力的入门方式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读点方法论的书，比如哲学简史、逻辑学，对建立思考框架有帮助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听报告和讲座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积极听，不要只是消极参加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积极提问和交流，"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There is no stupid question."</a:t>
            </a:r>
          </a:p>
        </p:txBody>
      </p:sp>
    </p:spTree>
    <p:extLst>
      <p:ext uri="{BB962C8B-B14F-4D97-AF65-F5344CB8AC3E}">
        <p14:creationId xmlns:p14="http://schemas.microsoft.com/office/powerpoint/2010/main" val="71339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EE152-496F-A41E-97A6-A81F480D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C4784925-385F-EA30-1AE8-5553A1FB3290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63EA51CA-F073-5F96-4582-8DD47D155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8B591D4E-0B5E-0231-BA0D-636E8D69654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83A27B1D-6D09-E2B3-5F60-62C6B690FB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28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BF51BFF7-3B24-D48E-BB7F-5768EC0A1C7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>
            <a:extLst>
              <a:ext uri="{FF2B5EF4-FFF2-40B4-BE49-F238E27FC236}">
                <a16:creationId xmlns:a16="http://schemas.microsoft.com/office/drawing/2014/main" id="{4AAB34E1-9813-E5F6-F7AE-7DAFD9774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准备一场论文调研汇报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FA5D424A-2780-FE8E-0AF8-B53B5190A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>
            <a:extLst>
              <a:ext uri="{FF2B5EF4-FFF2-40B4-BE49-F238E27FC236}">
                <a16:creationId xmlns:a16="http://schemas.microsoft.com/office/drawing/2014/main" id="{5609D039-AC62-45E2-392F-D3D5F2767845}"/>
              </a:ext>
            </a:extLst>
          </p:cNvPr>
          <p:cNvSpPr txBox="1"/>
          <p:nvPr/>
        </p:nvSpPr>
        <p:spPr>
          <a:xfrm>
            <a:off x="0" y="742599"/>
            <a:ext cx="911820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覆盖 3–5 篇论文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汇报顺序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问题定义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进展总览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分论文讲解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总结优缺点和展望研究机会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对每篇论文的汇报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先列出发表的会刊、作者和年份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问题导向：围绕论文要解决的几个核心技术挑战讲，其余略过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实验结果要分析透，不能只念数字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总结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要讲清楚可能存在的研究机会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能有初步实验佐证可行性更好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07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chEd_2012_Template_16x9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TechEd_2012_Template_16x9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12542</TotalTime>
  <Pages>0</Pages>
  <Words>4571</Words>
  <Characters>0</Characters>
  <Application>Microsoft Office PowerPoint</Application>
  <DocSecurity>0</DocSecurity>
  <PresentationFormat>全屏显示(16:9)</PresentationFormat>
  <Lines>0</Lines>
  <Paragraphs>358</Paragraphs>
  <Slides>28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微软雅黑</vt:lpstr>
      <vt:lpstr>Arial</vt:lpstr>
      <vt:lpstr>Segoe UI</vt:lpstr>
      <vt:lpstr>Times New Roman</vt:lpstr>
      <vt:lpstr>Wingdings</vt:lpstr>
      <vt:lpstr>TechEd_2012_Template_16x9</vt:lpstr>
      <vt:lpstr>PowerPoint 演示文稿</vt:lpstr>
      <vt:lpstr>读论文的困惑</vt:lpstr>
      <vt:lpstr>调研流程：找 → 筛 → 读 → 懂 → 比 → 问</vt:lpstr>
      <vt:lpstr>PowerPoint 演示文稿</vt:lpstr>
      <vt:lpstr>阅读目标：文献阅读和教材学习有什么不同？</vt:lpstr>
      <vt:lpstr>按需学习：遇到障碍再定向补背景</vt:lpstr>
      <vt:lpstr>PowerPoint 演示文稿</vt:lpstr>
      <vt:lpstr>论文检索：把调研内容细化为可检索的关键词</vt:lpstr>
      <vt:lpstr>检索是逐轮收敛，而不是一次命中</vt:lpstr>
      <vt:lpstr>种子论文 + 双向引用追踪</vt:lpstr>
      <vt:lpstr>四类检索来源 + 关键学者</vt:lpstr>
      <vt:lpstr>PowerPoint 演示文稿</vt:lpstr>
      <vt:lpstr>阅读价值 = 质量 × 当前相关性</vt:lpstr>
      <vt:lpstr>三步文献阅读法</vt:lpstr>
      <vt:lpstr>第一遍 · 鸟瞰：要不要继续读</vt:lpstr>
      <vt:lpstr>第二遍 · 理解：主张 × 证据</vt:lpstr>
      <vt:lpstr>第三遍 · 验证：虚拟重新实现</vt:lpstr>
      <vt:lpstr>用七段式提纲重建论文论证</vt:lpstr>
      <vt:lpstr>什么样的论文值得成为核心文献？</vt:lpstr>
      <vt:lpstr>PowerPoint 演示文稿</vt:lpstr>
      <vt:lpstr>跨论文比较：做表之前先确定比较目的</vt:lpstr>
      <vt:lpstr>比较表实例 · MapReduce vs RDD</vt:lpstr>
      <vt:lpstr>通过表比较方法的例子</vt:lpstr>
      <vt:lpstr>从哪些方面发现问题？</vt:lpstr>
      <vt:lpstr>用 5 要素模板把观察写成可检验的问题</vt:lpstr>
      <vt:lpstr>回头看和跳出看</vt:lpstr>
      <vt:lpstr>看其他领域的论文和听报告</vt:lpstr>
      <vt:lpstr>准备一场论文调研汇报</vt:lpstr>
    </vt:vector>
  </TitlesOfParts>
  <Manager>&lt;Content Manager Name Here&gt;</Manager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SAE-LR</dc:title>
  <dc:creator>Sonic</dc:creator>
  <cp:lastModifiedBy>潇 晏</cp:lastModifiedBy>
  <cp:revision>988</cp:revision>
  <dcterms:created xsi:type="dcterms:W3CDTF">2012-03-22T18:48:00Z</dcterms:created>
  <dcterms:modified xsi:type="dcterms:W3CDTF">2026-09-18T00:51:52Z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0x010100B88FC3ECA26D1C46B3C4C83281D2EB9C003BBE479AF4108146A616B6B5E7069DBC</vt:lpwstr>
  </property>
  <property fmtid="{D5CDD505-2E9C-101B-9397-08002B2CF9AE}" pid="3" name="Event Venue">
    <vt:lpwstr>232;#Orange County Convention Center Orlando, FL|bd993e89-aa48-4695-84e0-3b53e88b1a79</vt:lpwstr>
  </property>
  <property fmtid="{D5CDD505-2E9C-101B-9397-08002B2CF9AE}" pid="4" name="Event Location">
    <vt:lpwstr>231;#Orlando|99ded043-d247-43a1-9b7a-028ecd66d1eb</vt:lpwstr>
  </property>
  <property fmtid="{D5CDD505-2E9C-101B-9397-08002B2CF9AE}" pid="5" name="Event1">
    <vt:lpwstr>126;#TechEd|ac8fad57-eb30-43a8-b5bd-05dcf2cf2246</vt:lpwstr>
  </property>
  <property fmtid="{D5CDD505-2E9C-101B-9397-08002B2CF9AE}" pid="6" name="KSOProductBuildVer">
    <vt:lpwstr>2052-9.1.0.4180</vt:lpwstr>
  </property>
</Properties>
</file>