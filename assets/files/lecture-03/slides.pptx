
<file path=[Content_Types].xml><?xml version="1.0" encoding="utf-8"?>
<Types xmlns="http://schemas.openxmlformats.org/package/2006/content-types">
  <Default Extension="jpeg" ContentType="image/jpeg"/>
  <Default Extension="org&amp;utm_campaign=parser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31"/>
  </p:notesMasterIdLst>
  <p:handoutMasterIdLst>
    <p:handoutMasterId r:id="rId32"/>
  </p:handoutMasterIdLst>
  <p:sldIdLst>
    <p:sldId id="258" r:id="rId2"/>
    <p:sldId id="431" r:id="rId3"/>
    <p:sldId id="432" r:id="rId4"/>
    <p:sldId id="460" r:id="rId5"/>
    <p:sldId id="433" r:id="rId6"/>
    <p:sldId id="435" r:id="rId7"/>
    <p:sldId id="436" r:id="rId8"/>
    <p:sldId id="461" r:id="rId9"/>
    <p:sldId id="438" r:id="rId10"/>
    <p:sldId id="439" r:id="rId11"/>
    <p:sldId id="440" r:id="rId12"/>
    <p:sldId id="441" r:id="rId13"/>
    <p:sldId id="442" r:id="rId14"/>
    <p:sldId id="462" r:id="rId15"/>
    <p:sldId id="445" r:id="rId16"/>
    <p:sldId id="446" r:id="rId17"/>
    <p:sldId id="463" r:id="rId18"/>
    <p:sldId id="447" r:id="rId19"/>
    <p:sldId id="448" r:id="rId20"/>
    <p:sldId id="449" r:id="rId21"/>
    <p:sldId id="450" r:id="rId22"/>
    <p:sldId id="451" r:id="rId23"/>
    <p:sldId id="452" r:id="rId24"/>
    <p:sldId id="464" r:id="rId25"/>
    <p:sldId id="453" r:id="rId26"/>
    <p:sldId id="454" r:id="rId27"/>
    <p:sldId id="455" r:id="rId28"/>
    <p:sldId id="465" r:id="rId29"/>
    <p:sldId id="456" r:id="rId30"/>
  </p:sldIdLst>
  <p:sldSz cx="9144000" cy="5143500" type="screen16x9"/>
  <p:notesSz cx="6858000" cy="9144000"/>
  <p:defaultTextStyle>
    <a:defPPr>
      <a:defRPr lang="zh-CN"/>
    </a:defPPr>
    <a:lvl1pPr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342900" indent="1143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685800" indent="2286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028700" indent="3429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371600" indent="4572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">
          <p15:clr>
            <a:srgbClr val="A4A3A4"/>
          </p15:clr>
        </p15:guide>
        <p15:guide id="2" orient="horz" pos="900">
          <p15:clr>
            <a:srgbClr val="A4A3A4"/>
          </p15:clr>
        </p15:guide>
        <p15:guide id="3" orient="horz" pos="2052">
          <p15:clr>
            <a:srgbClr val="A4A3A4"/>
          </p15:clr>
        </p15:guide>
        <p15:guide id="4" orient="horz" pos="3132">
          <p15:clr>
            <a:srgbClr val="A4A3A4"/>
          </p15:clr>
        </p15:guide>
        <p15:guide id="5" orient="horz" pos="1116">
          <p15:clr>
            <a:srgbClr val="A4A3A4"/>
          </p15:clr>
        </p15:guide>
        <p15:guide id="6" orient="horz" pos="684">
          <p15:clr>
            <a:srgbClr val="A4A3A4"/>
          </p15:clr>
        </p15:guide>
        <p15:guide id="7" pos="2880">
          <p15:clr>
            <a:srgbClr val="A4A3A4"/>
          </p15:clr>
        </p15:guide>
        <p15:guide id="8" pos="245">
          <p15:clr>
            <a:srgbClr val="A4A3A4"/>
          </p15:clr>
        </p15:guide>
        <p15:guide id="9" pos="893">
          <p15:clr>
            <a:srgbClr val="A4A3A4"/>
          </p15:clr>
        </p15:guide>
        <p15:guide id="10" pos="5514">
          <p15:clr>
            <a:srgbClr val="A4A3A4"/>
          </p15:clr>
        </p15:guide>
        <p15:guide id="11" pos="5299">
          <p15:clr>
            <a:srgbClr val="A4A3A4"/>
          </p15:clr>
        </p15:guide>
        <p15:guide id="12" pos="45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帐户" initials="M帐" lastIdx="1" clrIdx="0">
    <p:extLst>
      <p:ext uri="{19B8F6BF-5375-455C-9EA6-DF929625EA0E}">
        <p15:presenceInfo xmlns:p15="http://schemas.microsoft.com/office/powerpoint/2012/main" userId="c8f51119b6961bf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A7E7E"/>
    <a:srgbClr val="F610E6"/>
    <a:srgbClr val="A3D769"/>
    <a:srgbClr val="FBEFC7"/>
    <a:srgbClr val="FFCB25"/>
    <a:srgbClr val="2486C2"/>
    <a:srgbClr val="FFE181"/>
    <a:srgbClr val="E36D6D"/>
    <a:srgbClr val="6F9C2E"/>
    <a:srgbClr val="D5A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5" autoAdjust="0"/>
    <p:restoredTop sz="86575" autoAdjust="0"/>
  </p:normalViewPr>
  <p:slideViewPr>
    <p:cSldViewPr>
      <p:cViewPr varScale="1">
        <p:scale>
          <a:sx n="101" d="100"/>
          <a:sy n="101" d="100"/>
        </p:scale>
        <p:origin x="1296" y="48"/>
      </p:cViewPr>
      <p:guideLst>
        <p:guide orient="horz" pos="108"/>
        <p:guide orient="horz" pos="900"/>
        <p:guide orient="horz" pos="2052"/>
        <p:guide orient="horz" pos="3132"/>
        <p:guide orient="horz" pos="1116"/>
        <p:guide orient="horz" pos="684"/>
        <p:guide pos="2880"/>
        <p:guide pos="245"/>
        <p:guide pos="893"/>
        <p:guide pos="5514"/>
        <p:guide pos="5299"/>
        <p:guide pos="45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4295" cy="7429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008247A-13B5-491F-9F97-C32DC2A76F1F}" type="datetimeFigureOut">
              <a:rPr lang="zh-CN" altLang="en-US"/>
              <a:pPr>
                <a:defRPr/>
              </a:pPr>
              <a:t>2026/9/28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BF023A7-28A7-4F76-9563-AF5157558A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4386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Header Placeholder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Segoe U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>
              <a:defRPr/>
            </a:pPr>
            <a:fld id="{63021AE8-D0B7-4BF6-B781-51FEE193BFAD}" type="datetime1">
              <a:rPr lang="en-US"/>
              <a:pPr>
                <a:defRPr/>
              </a:pPr>
              <a:t>9/28/2026</a:t>
            </a:fld>
            <a:endParaRPr lang="en-US" sz="1200">
              <a:latin typeface="Segoe UI" pitchFamily="34" charset="0"/>
            </a:endParaRPr>
          </a:p>
        </p:txBody>
      </p:sp>
      <p:sp>
        <p:nvSpPr>
          <p:cNvPr id="47108" name="Slide Image Placeholder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sp>
      <p:sp>
        <p:nvSpPr>
          <p:cNvPr id="47109" name="Notes Placeholder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Click to edit Master text styles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Second level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Third level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Fourth level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Fifth level</a:t>
            </a:r>
          </a:p>
        </p:txBody>
      </p:sp>
      <p:sp>
        <p:nvSpPr>
          <p:cNvPr id="10246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617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500">
                <a:latin typeface="Segoe UI" pitchFamily="34" charset="0"/>
                <a:sym typeface="Segoe U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47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172200" y="8685213"/>
            <a:ext cx="684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>
              <a:defRPr/>
            </a:pPr>
            <a:fld id="{C602B0D3-82A8-4140-9467-B613966B3B70}" type="slidenum">
              <a:rPr lang="en-US"/>
              <a:pPr>
                <a:defRPr/>
              </a:pPr>
              <a:t>‹#›</a:t>
            </a:fld>
            <a:endParaRPr lang="en-US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87260"/>
      </p:ext>
    </p:extLst>
  </p:cSld>
  <p:clrMap bg1="dk2" tx1="lt1" bg2="dk1" tx2="lt2" accent1="accent1" accent2="accent2" accent3="accent3" accent4="accent4" accent5="accent5" accent6="accent6" hlink="hlink" folHlink="folHlink"/>
  <p:hf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3" name="日期占位符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AACB7E6-B7CF-48FA-8C4E-E35873AF93AF}" type="datetime1">
              <a:rPr lang="en-US" altLang="zh-CN" smtClean="0"/>
              <a:pPr eaLnBrk="1" hangingPunct="1"/>
              <a:t>9/28/2026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4" name="页脚占位符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48135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96E3EA8-631F-4D42-B07C-535257082CBD}" type="slidenum">
              <a:rPr lang="en-US" altLang="zh-CN" smtClean="0"/>
              <a:pPr eaLnBrk="1" hangingPunct="1"/>
              <a:t>1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0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03AAB-0DEE-0EB9-7DC3-073EF5D0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2D34FDFF-307D-8071-2AC1-03EAE3B48D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2BB485F5-821B-335E-83A5-A9E170177B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页眉占位符 3">
            <a:extLst>
              <a:ext uri="{FF2B5EF4-FFF2-40B4-BE49-F238E27FC236}">
                <a16:creationId xmlns:a16="http://schemas.microsoft.com/office/drawing/2014/main" id="{4E8E7F5D-0103-9FE8-F627-DD87D2E77AFC}"/>
              </a:ext>
            </a:extLst>
          </p:cNvPr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3" name="日期占位符 4">
            <a:extLst>
              <a:ext uri="{FF2B5EF4-FFF2-40B4-BE49-F238E27FC236}">
                <a16:creationId xmlns:a16="http://schemas.microsoft.com/office/drawing/2014/main" id="{DC305283-B77B-AA49-9E06-D672706D93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AACB7E6-B7CF-48FA-8C4E-E35873AF93AF}" type="datetime1">
              <a:rPr lang="en-US" altLang="zh-CN" smtClean="0"/>
              <a:pPr eaLnBrk="1" hangingPunct="1"/>
              <a:t>9/28/2026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4" name="页脚占位符 5">
            <a:extLst>
              <a:ext uri="{FF2B5EF4-FFF2-40B4-BE49-F238E27FC236}">
                <a16:creationId xmlns:a16="http://schemas.microsoft.com/office/drawing/2014/main" id="{9267A281-1346-385D-3406-B23236BFFF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48135" name="灯片编号占位符 6">
            <a:extLst>
              <a:ext uri="{FF2B5EF4-FFF2-40B4-BE49-F238E27FC236}">
                <a16:creationId xmlns:a16="http://schemas.microsoft.com/office/drawing/2014/main" id="{650833B8-7D05-7E7A-B4B9-3773969BC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96E3EA8-631F-4D42-B07C-535257082CBD}" type="slidenum">
              <a:rPr lang="en-US" altLang="zh-CN" smtClean="0"/>
              <a:pPr eaLnBrk="1" hangingPunct="1"/>
              <a:t>4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795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2BCA-1A12-227C-40C2-0561ADFC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2967D3A3-DF0F-4220-A157-896855F0F6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54DFBE27-7AED-3A91-B81E-32CC8D38AC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页眉占位符 3">
            <a:extLst>
              <a:ext uri="{FF2B5EF4-FFF2-40B4-BE49-F238E27FC236}">
                <a16:creationId xmlns:a16="http://schemas.microsoft.com/office/drawing/2014/main" id="{1AC5E5ED-47E1-EADE-4D95-5F02B87D2FDB}"/>
              </a:ext>
            </a:extLst>
          </p:cNvPr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3" name="日期占位符 4">
            <a:extLst>
              <a:ext uri="{FF2B5EF4-FFF2-40B4-BE49-F238E27FC236}">
                <a16:creationId xmlns:a16="http://schemas.microsoft.com/office/drawing/2014/main" id="{C6E82C87-99D7-CD0B-8E6F-CED1EC16A1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AACB7E6-B7CF-48FA-8C4E-E35873AF93AF}" type="datetime1">
              <a:rPr lang="en-US" altLang="zh-CN" smtClean="0"/>
              <a:pPr eaLnBrk="1" hangingPunct="1"/>
              <a:t>9/28/2026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4" name="页脚占位符 5">
            <a:extLst>
              <a:ext uri="{FF2B5EF4-FFF2-40B4-BE49-F238E27FC236}">
                <a16:creationId xmlns:a16="http://schemas.microsoft.com/office/drawing/2014/main" id="{62A5AFDE-2224-953B-6126-CD51137ECB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48135" name="灯片编号占位符 6">
            <a:extLst>
              <a:ext uri="{FF2B5EF4-FFF2-40B4-BE49-F238E27FC236}">
                <a16:creationId xmlns:a16="http://schemas.microsoft.com/office/drawing/2014/main" id="{75FC0223-C021-1443-EABB-0F671F417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96E3EA8-631F-4D42-B07C-535257082CBD}" type="slidenum">
              <a:rPr lang="en-US" altLang="zh-CN" smtClean="0"/>
              <a:pPr eaLnBrk="1" hangingPunct="1"/>
              <a:t>8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982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62EA3-2DD3-5972-4D40-1A623B0CB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36EA4254-F526-8B6B-03BB-F3D14BF5FF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49576BCC-52FF-D2BD-8885-0A913C1200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页眉占位符 3">
            <a:extLst>
              <a:ext uri="{FF2B5EF4-FFF2-40B4-BE49-F238E27FC236}">
                <a16:creationId xmlns:a16="http://schemas.microsoft.com/office/drawing/2014/main" id="{F05852F9-14C8-7EEA-E934-0C4D555F4DF5}"/>
              </a:ext>
            </a:extLst>
          </p:cNvPr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3" name="日期占位符 4">
            <a:extLst>
              <a:ext uri="{FF2B5EF4-FFF2-40B4-BE49-F238E27FC236}">
                <a16:creationId xmlns:a16="http://schemas.microsoft.com/office/drawing/2014/main" id="{B8E67923-C176-6C3B-0E73-5FE7210F2A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AACB7E6-B7CF-48FA-8C4E-E35873AF93AF}" type="datetime1">
              <a:rPr lang="en-US" altLang="zh-CN" smtClean="0"/>
              <a:pPr eaLnBrk="1" hangingPunct="1"/>
              <a:t>9/28/2026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4" name="页脚占位符 5">
            <a:extLst>
              <a:ext uri="{FF2B5EF4-FFF2-40B4-BE49-F238E27FC236}">
                <a16:creationId xmlns:a16="http://schemas.microsoft.com/office/drawing/2014/main" id="{7933C63B-CCCE-125A-5E7E-25E0445423E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48135" name="灯片编号占位符 6">
            <a:extLst>
              <a:ext uri="{FF2B5EF4-FFF2-40B4-BE49-F238E27FC236}">
                <a16:creationId xmlns:a16="http://schemas.microsoft.com/office/drawing/2014/main" id="{0AF1F809-EFC6-C52A-7B1B-1C8C18D75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96E3EA8-631F-4D42-B07C-535257082CBD}" type="slidenum">
              <a:rPr lang="en-US" altLang="zh-CN" smtClean="0"/>
              <a:pPr eaLnBrk="1" hangingPunct="1"/>
              <a:t>14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363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C59-EF41-3484-1F68-83795BE1A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BFC920D6-6856-C709-95ED-94ACF286BC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7C4A5AE5-0064-4898-0645-C11AF1598D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页眉占位符 3">
            <a:extLst>
              <a:ext uri="{FF2B5EF4-FFF2-40B4-BE49-F238E27FC236}">
                <a16:creationId xmlns:a16="http://schemas.microsoft.com/office/drawing/2014/main" id="{864E204C-9C34-676C-A7D0-422D659A69AE}"/>
              </a:ext>
            </a:extLst>
          </p:cNvPr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3" name="日期占位符 4">
            <a:extLst>
              <a:ext uri="{FF2B5EF4-FFF2-40B4-BE49-F238E27FC236}">
                <a16:creationId xmlns:a16="http://schemas.microsoft.com/office/drawing/2014/main" id="{FA0C7FF3-ACE9-1867-8DA1-4C49C67642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AACB7E6-B7CF-48FA-8C4E-E35873AF93AF}" type="datetime1">
              <a:rPr lang="en-US" altLang="zh-CN" smtClean="0"/>
              <a:pPr eaLnBrk="1" hangingPunct="1"/>
              <a:t>9/28/2026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4" name="页脚占位符 5">
            <a:extLst>
              <a:ext uri="{FF2B5EF4-FFF2-40B4-BE49-F238E27FC236}">
                <a16:creationId xmlns:a16="http://schemas.microsoft.com/office/drawing/2014/main" id="{623137E6-1DBA-6351-DEC9-2E9EAAD726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48135" name="灯片编号占位符 6">
            <a:extLst>
              <a:ext uri="{FF2B5EF4-FFF2-40B4-BE49-F238E27FC236}">
                <a16:creationId xmlns:a16="http://schemas.microsoft.com/office/drawing/2014/main" id="{547D7C51-BAD9-B4ED-A265-E92014DB65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96E3EA8-631F-4D42-B07C-535257082CBD}" type="slidenum">
              <a:rPr lang="en-US" altLang="zh-CN" smtClean="0"/>
              <a:pPr eaLnBrk="1" hangingPunct="1"/>
              <a:t>17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432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1502-8ADD-E58D-ED8F-04F8A1CE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41E4E5B5-58A6-05A7-3184-8BDCE20723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83F43837-AD93-F09A-A5A8-7B770CDF2D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页眉占位符 3">
            <a:extLst>
              <a:ext uri="{FF2B5EF4-FFF2-40B4-BE49-F238E27FC236}">
                <a16:creationId xmlns:a16="http://schemas.microsoft.com/office/drawing/2014/main" id="{4AB5DE01-9FC4-0263-49F5-14B3D4D3CE49}"/>
              </a:ext>
            </a:extLst>
          </p:cNvPr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3" name="日期占位符 4">
            <a:extLst>
              <a:ext uri="{FF2B5EF4-FFF2-40B4-BE49-F238E27FC236}">
                <a16:creationId xmlns:a16="http://schemas.microsoft.com/office/drawing/2014/main" id="{32C3A76B-CDCD-B3AD-7FAD-6BC2ABAECA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AACB7E6-B7CF-48FA-8C4E-E35873AF93AF}" type="datetime1">
              <a:rPr lang="en-US" altLang="zh-CN" smtClean="0"/>
              <a:pPr eaLnBrk="1" hangingPunct="1"/>
              <a:t>9/28/2026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4" name="页脚占位符 5">
            <a:extLst>
              <a:ext uri="{FF2B5EF4-FFF2-40B4-BE49-F238E27FC236}">
                <a16:creationId xmlns:a16="http://schemas.microsoft.com/office/drawing/2014/main" id="{A86F94E3-6FD1-7DB2-C52D-600EF7A25A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48135" name="灯片编号占位符 6">
            <a:extLst>
              <a:ext uri="{FF2B5EF4-FFF2-40B4-BE49-F238E27FC236}">
                <a16:creationId xmlns:a16="http://schemas.microsoft.com/office/drawing/2014/main" id="{4611AEE9-D673-5A66-94DC-DB4FCE4E0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96E3EA8-631F-4D42-B07C-535257082CBD}" type="slidenum">
              <a:rPr lang="en-US" altLang="zh-CN" smtClean="0"/>
              <a:pPr eaLnBrk="1" hangingPunct="1"/>
              <a:t>24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133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AB0F4-7C75-4EFA-8EE7-F47BD171C7FF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A721E-7253-463E-886E-DCB3B32C17B4}" type="datetime1">
              <a:rPr lang="zh-CN" altLang="en-US"/>
              <a:pPr>
                <a:defRPr/>
              </a:pPr>
              <a:t>2026/9/28</a:t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805700"/>
      </p:ext>
    </p:extLst>
  </p:cSld>
  <p:clrMapOvr>
    <a:masterClrMapping/>
  </p:clrMapOvr>
  <p:transition spd="med"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88938" y="171450"/>
            <a:ext cx="8364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>
                <a:sym typeface="Arial" charset="0"/>
              </a:rPr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8938" y="1085850"/>
            <a:ext cx="8364537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>
                <a:sym typeface="Segoe U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Segoe UI" pitchFamily="34" charset="0"/>
              </a:rPr>
              <a:t>Second level</a:t>
            </a:r>
          </a:p>
          <a:p>
            <a:pPr lvl="2"/>
            <a:r>
              <a:rPr lang="en-US" altLang="zh-CN">
                <a:sym typeface="Segoe UI" pitchFamily="34" charset="0"/>
              </a:rPr>
              <a:t>Third level</a:t>
            </a:r>
          </a:p>
          <a:p>
            <a:pPr lvl="3"/>
            <a:r>
              <a:rPr lang="en-US" altLang="zh-CN">
                <a:sym typeface="Segoe UI" pitchFamily="34" charset="0"/>
              </a:rPr>
              <a:t>Fourth level</a:t>
            </a:r>
          </a:p>
          <a:p>
            <a:pPr lvl="4"/>
            <a:r>
              <a:rPr lang="en-US" altLang="zh-CN">
                <a:sym typeface="Segoe UI" pitchFamily="34" charset="0"/>
              </a:rPr>
              <a:t>Fifth level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010400" y="4800600"/>
            <a:ext cx="2133600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i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514A1D8F-DE77-4FE1-B39D-0EE60C975DF4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11A085-D558-4921-9F16-599A489A6F10}" type="datetime1">
              <a:rPr lang="zh-CN" altLang="en-US"/>
              <a:pPr>
                <a:defRPr/>
              </a:pPr>
              <a:t>2026/9/28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4" r:id="rId1"/>
  </p:sldLayoutIdLst>
  <p:transition spd="med">
    <p:push/>
  </p:transition>
  <p:hf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  <a:sym typeface="Arial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5pPr>
      <a:lvl6pPr marL="11430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6pPr>
      <a:lvl7pPr marL="16002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7pPr>
      <a:lvl8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8pPr>
      <a:lvl9pPr marL="2514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9pPr>
    </p:titleStyle>
    <p:bodyStyle>
      <a:lvl1pPr marL="346075" indent="-3460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2400">
          <a:solidFill>
            <a:schemeClr val="tx1"/>
          </a:solidFill>
          <a:latin typeface="+mn-lt"/>
          <a:ea typeface="+mn-ea"/>
          <a:cs typeface="+mn-cs"/>
          <a:sym typeface="Segoe UI" pitchFamily="34" charset="0"/>
        </a:defRPr>
      </a:lvl1pPr>
      <a:lvl2pPr marL="641350" indent="-2952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2100">
          <a:solidFill>
            <a:schemeClr val="tx1"/>
          </a:solidFill>
          <a:latin typeface="+mn-lt"/>
          <a:cs typeface="+mn-cs"/>
          <a:sym typeface="Segoe UI" pitchFamily="34" charset="0"/>
        </a:defRPr>
      </a:lvl2pPr>
      <a:lvl3pPr marL="942975" indent="-30162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>
          <a:solidFill>
            <a:schemeClr val="tx1"/>
          </a:solidFill>
          <a:latin typeface="+mn-lt"/>
          <a:cs typeface="+mn-cs"/>
          <a:sym typeface="Segoe UI" pitchFamily="34" charset="0"/>
        </a:defRPr>
      </a:lvl3pPr>
      <a:lvl4pPr marL="1203325" indent="-258763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4pPr>
      <a:lvl5pPr marL="1455738" indent="-252413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5pPr>
      <a:lvl6pPr marL="19129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6pPr>
      <a:lvl7pPr marL="23701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7pPr>
      <a:lvl8pPr marL="28273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8pPr>
      <a:lvl9pPr marL="32845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org&amp;utm_campaign=parser&amp;utm_content=thumbnai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org&amp;utm_campaign=parser&amp;utm_content=thumbnai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3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2057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8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2054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7543C62-3670-4004-A05D-8FE5695BEC36}" type="slidenum">
              <a:rPr lang="zh-CN" altLang="en-US" sz="1800" smtClean="0">
                <a:latin typeface="Times New Roman" pitchFamily="18" charset="0"/>
              </a:rPr>
              <a:pPr eaLnBrk="1" hangingPunct="1"/>
              <a:t>1</a:t>
            </a:fld>
            <a:endParaRPr lang="zh-CN" altLang="en-US" sz="1800">
              <a:latin typeface="Times New Roman" pitchFamily="18" charset="0"/>
            </a:endParaRPr>
          </a:p>
        </p:txBody>
      </p:sp>
      <p:sp>
        <p:nvSpPr>
          <p:cNvPr id="13" name="标题 1"/>
          <p:cNvSpPr txBox="1">
            <a:spLocks/>
          </p:cNvSpPr>
          <p:nvPr/>
        </p:nvSpPr>
        <p:spPr bwMode="auto">
          <a:xfrm>
            <a:off x="0" y="1177147"/>
            <a:ext cx="9144000" cy="1308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719138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indent="0" algn="ctr" defTabSz="914400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  <a:sym typeface="Arial" charset="0"/>
              </a:rPr>
              <a:t>科研训练三</a:t>
            </a:r>
            <a:endParaRPr lang="en-US" altLang="zh-CN" sz="3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ea"/>
              <a:sym typeface="Arial" charset="0"/>
            </a:endParaRPr>
          </a:p>
          <a:p>
            <a:pPr indent="0" algn="ctr" defTabSz="914400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  <a:sym typeface="Arial" charset="0"/>
              </a:rPr>
              <a:t>3 </a:t>
            </a:r>
            <a:r>
              <a:rPr lang="zh-CN" altLang="en-US" sz="28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  <a:sym typeface="Arial" charset="0"/>
              </a:rPr>
              <a:t>研究推进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ea"/>
              <a:sym typeface="Arial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F7F9970-198F-47DF-22CB-641301F7FDA3}"/>
              </a:ext>
            </a:extLst>
          </p:cNvPr>
          <p:cNvSpPr txBox="1">
            <a:spLocks/>
          </p:cNvSpPr>
          <p:nvPr/>
        </p:nvSpPr>
        <p:spPr>
          <a:xfrm>
            <a:off x="-172985" y="3101049"/>
            <a:ext cx="9144000" cy="184340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晏潇 博士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武汉大学，武汉数学与智能研究院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yanxiaosunny@gmail.com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108F8F7-1DB1-1497-4A68-E27E36CC8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314700"/>
            <a:ext cx="9144000" cy="864010"/>
          </a:xfrm>
        </p:spPr>
        <p:txBody>
          <a:bodyPr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晏潇 博士</a:t>
            </a:r>
            <a:endParaRPr lang="en-US" altLang="zh-CN" sz="18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yanxiaosunny@whu.edu.cn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73649A2A-3FD1-1348-448F-0C12696CF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" y="78611"/>
            <a:ext cx="706998" cy="7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本讲内容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上一讲：如何调研论文，提炼研究问题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这一讲：如何解决研究问题，形成成果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流程：构思，分析，实现，实验，反思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41995" name="图片 9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25" y="2495669"/>
            <a:ext cx="8125692" cy="1948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3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回顾：研究问题从哪来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增量改进类：基于 SOTA 方法，提升正确率、效率，降低开销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场景迁移类：批处理改流式，静态改支持更新，CPU 换 GPU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提出新问题类：抽象共性问题，换一种建模，或重新制定性能度量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发掘一个领域的盲区，通常需要前两类工作进行积累和铺垫</a:t>
            </a:r>
          </a:p>
        </p:txBody>
      </p:sp>
      <p:pic>
        <p:nvPicPr>
          <p:cNvPr id="41995" name="图片 93" descr="image.png"/>
          <p:cNvPicPr>
            <a:picLocks noChangeAspect="1"/>
          </p:cNvPicPr>
          <p:nvPr/>
        </p:nvPicPr>
        <p:blipFill>
          <a:blip r:embed="rId3"/>
          <a:srcRect t="11912"/>
          <a:stretch>
            <a:fillRect/>
          </a:stretch>
        </p:blipFill>
        <p:spPr>
          <a:xfrm>
            <a:off x="576683" y="2497455"/>
            <a:ext cx="8118801" cy="20878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8A87A-C8B1-76CA-113A-8872B512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3" name="组合 3">
            <a:extLst>
              <a:ext uri="{FF2B5EF4-FFF2-40B4-BE49-F238E27FC236}">
                <a16:creationId xmlns:a16="http://schemas.microsoft.com/office/drawing/2014/main" id="{EA76ED3F-9C75-D41E-5F59-C96DEE48EADF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2057" name="矩形 1">
              <a:extLst>
                <a:ext uri="{FF2B5EF4-FFF2-40B4-BE49-F238E27FC236}">
                  <a16:creationId xmlns:a16="http://schemas.microsoft.com/office/drawing/2014/main" id="{801D47E6-876C-6EB9-59F5-995DBD6BB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8" name="标题 1">
              <a:extLst>
                <a:ext uri="{FF2B5EF4-FFF2-40B4-BE49-F238E27FC236}">
                  <a16:creationId xmlns:a16="http://schemas.microsoft.com/office/drawing/2014/main" id="{2564433D-BD9A-07E5-BAFD-41D777E4264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2054" name="灯片编号占位符 5">
            <a:extLst>
              <a:ext uri="{FF2B5EF4-FFF2-40B4-BE49-F238E27FC236}">
                <a16:creationId xmlns:a16="http://schemas.microsoft.com/office/drawing/2014/main" id="{3C0FA88F-FF20-F15E-653E-B1E857A6AF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7543C62-3670-4004-A05D-8FE5695BEC36}" type="slidenum">
              <a:rPr lang="zh-CN" altLang="en-US" sz="1800" smtClean="0">
                <a:latin typeface="Times New Roman" pitchFamily="18" charset="0"/>
              </a:rPr>
              <a:pPr eaLnBrk="1" hangingPunct="1"/>
              <a:t>4</a:t>
            </a:fld>
            <a:endParaRPr lang="zh-CN" altLang="en-US" sz="1800">
              <a:latin typeface="Times New Roman" pitchFamily="18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8D48711-E333-2338-418F-4B975D767896}"/>
              </a:ext>
            </a:extLst>
          </p:cNvPr>
          <p:cNvSpPr txBox="1">
            <a:spLocks/>
          </p:cNvSpPr>
          <p:nvPr/>
        </p:nvSpPr>
        <p:spPr bwMode="auto">
          <a:xfrm>
            <a:off x="0" y="2079307"/>
            <a:ext cx="91440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构思解法</a:t>
            </a:r>
          </a:p>
        </p:txBody>
      </p:sp>
    </p:spTree>
    <p:extLst>
      <p:ext uri="{BB962C8B-B14F-4D97-AF65-F5344CB8AC3E}">
        <p14:creationId xmlns:p14="http://schemas.microsoft.com/office/powerpoint/2010/main" val="261949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5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从机理出发构思解法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  <a:defRPr sz="1800" b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  <a:lvl2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  <a:defRPr sz="160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2pPr>
          </a:lstStyle>
          <a:p>
            <a:r>
              <a:rPr lang="zh-CN" altLang="en-US" dirty="0"/>
              <a:t>如何理清思路和解法？</a:t>
            </a:r>
          </a:p>
          <a:p>
            <a:pPr lvl="1"/>
            <a:r>
              <a:rPr lang="zh-CN" altLang="en-US" dirty="0"/>
              <a:t>把解法里的技术名词全部划掉</a:t>
            </a:r>
          </a:p>
          <a:p>
            <a:pPr lvl="1"/>
            <a:r>
              <a:rPr lang="zh-CN" altLang="en-US" dirty="0"/>
              <a:t>能说清「哪里不好、为什么不好、要改成什么」，那才真正找到了问题和解法</a:t>
            </a:r>
            <a:endParaRPr lang="en-US" altLang="zh-CN" dirty="0"/>
          </a:p>
          <a:p>
            <a:pPr lvl="1"/>
            <a:r>
              <a:rPr lang="zh-CN" altLang="en-US" dirty="0"/>
              <a:t>从一些实例或实验结果出发是好思路：从直观到抽象</a:t>
            </a:r>
          </a:p>
        </p:txBody>
      </p:sp>
      <p:pic>
        <p:nvPicPr>
          <p:cNvPr id="41995" name="图片 94" descr="image.png"/>
          <p:cNvPicPr>
            <a:picLocks noChangeAspect="1"/>
          </p:cNvPicPr>
          <p:nvPr/>
        </p:nvPicPr>
        <p:blipFill>
          <a:blip r:embed="rId3"/>
          <a:srcRect t="10218" b="11522"/>
          <a:stretch>
            <a:fillRect/>
          </a:stretch>
        </p:blipFill>
        <p:spPr>
          <a:xfrm>
            <a:off x="411480" y="2587668"/>
            <a:ext cx="8353297" cy="18116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6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第一性原理：从基本约束和条件出发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2166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先问哪些条件不可违反，再挑切入点和设计解决方案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资源：时间、内存、带宽、算力、数据、人力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约束：延迟上限、硬件、隐私、正确性、预算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不变量：必须保持的语义、接口、安全属性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必要条件：去掉它方案就不成立的那个条件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从约束出发，产出的是若干仍然成立的设计选择，保守但踩坑少</a:t>
            </a:r>
          </a:p>
        </p:txBody>
      </p:sp>
      <p:pic>
        <p:nvPicPr>
          <p:cNvPr id="41995" name="图片 9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65077"/>
            <a:ext cx="8353043" cy="13100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96" name="图片 97" descr="image.png"/>
          <p:cNvPicPr>
            <a:picLocks noChangeAspect="1"/>
          </p:cNvPicPr>
          <p:nvPr/>
        </p:nvPicPr>
        <p:blipFill>
          <a:blip r:embed="rId2"/>
          <a:srcRect b="4740"/>
          <a:stretch>
            <a:fillRect/>
          </a:stretch>
        </p:blipFill>
        <p:spPr>
          <a:xfrm>
            <a:off x="1525905" y="2150265"/>
            <a:ext cx="6181640" cy="2399510"/>
          </a:xfrm>
          <a:prstGeom prst="rect">
            <a:avLst/>
          </a:prstGeom>
        </p:spPr>
      </p:pic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7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决定解法的切入点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-11888" y="685800"/>
            <a:ext cx="9190177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干预点在哪个层次，决定了贡献有多大，越基础的假设越重要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往下走一层，通常要换掉一个默认假设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L2 换的是数据与计算的抽象，L3 换的是工作负载本身的假设</a:t>
            </a:r>
          </a:p>
        </p:txBody>
      </p:sp>
      <p:sp>
        <p:nvSpPr>
          <p:cNvPr id="41995" name="文本框 1"/>
          <p:cNvSpPr txBox="1"/>
          <p:nvPr/>
        </p:nvSpPr>
        <p:spPr>
          <a:xfrm>
            <a:off x="-11887" y="4572000"/>
            <a:ext cx="4513478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000" i="1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RDD、Transformer 都属 L2；重写负载假设（如假设可异步）属 L3。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F91C3-B158-8D9B-37D8-BD598D767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3" name="组合 3">
            <a:extLst>
              <a:ext uri="{FF2B5EF4-FFF2-40B4-BE49-F238E27FC236}">
                <a16:creationId xmlns:a16="http://schemas.microsoft.com/office/drawing/2014/main" id="{548D8640-34A0-5186-0CAF-0097ABF6EE64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2057" name="矩形 1">
              <a:extLst>
                <a:ext uri="{FF2B5EF4-FFF2-40B4-BE49-F238E27FC236}">
                  <a16:creationId xmlns:a16="http://schemas.microsoft.com/office/drawing/2014/main" id="{8912FDC3-07CB-F540-E85C-001E8E5CB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8" name="标题 1">
              <a:extLst>
                <a:ext uri="{FF2B5EF4-FFF2-40B4-BE49-F238E27FC236}">
                  <a16:creationId xmlns:a16="http://schemas.microsoft.com/office/drawing/2014/main" id="{25FAC41A-F88B-199F-E941-CE3880AEF91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2054" name="灯片编号占位符 5">
            <a:extLst>
              <a:ext uri="{FF2B5EF4-FFF2-40B4-BE49-F238E27FC236}">
                <a16:creationId xmlns:a16="http://schemas.microsoft.com/office/drawing/2014/main" id="{522DEB81-EA00-DB8B-CE69-8836E0A19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7543C62-3670-4004-A05D-8FE5695BEC36}" type="slidenum">
              <a:rPr lang="zh-CN" altLang="en-US" sz="1800" smtClean="0">
                <a:latin typeface="Times New Roman" pitchFamily="18" charset="0"/>
              </a:rPr>
              <a:pPr eaLnBrk="1" hangingPunct="1"/>
              <a:t>8</a:t>
            </a:fld>
            <a:endParaRPr lang="zh-CN" altLang="en-US" sz="1800">
              <a:latin typeface="Times New Roman" pitchFamily="18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044C6D8-2C25-D96B-E448-21468C020A28}"/>
              </a:ext>
            </a:extLst>
          </p:cNvPr>
          <p:cNvSpPr txBox="1">
            <a:spLocks/>
          </p:cNvSpPr>
          <p:nvPr/>
        </p:nvSpPr>
        <p:spPr bwMode="auto">
          <a:xfrm>
            <a:off x="0" y="2079307"/>
            <a:ext cx="91440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分析解法</a:t>
            </a:r>
          </a:p>
        </p:txBody>
      </p:sp>
    </p:spTree>
    <p:extLst>
      <p:ext uri="{BB962C8B-B14F-4D97-AF65-F5344CB8AC3E}">
        <p14:creationId xmlns:p14="http://schemas.microsoft.com/office/powerpoint/2010/main" val="222462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9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en-US" altLang="zh-CN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Talk is cheap, show me the code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341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产生想法不难，难的是判断它值不值得做，有没有增益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光靠思维不行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论文里「我们的方法更好」看着天衣无缝，因为反例没写进去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顺着论文逻辑想下去会觉得已经想通了，动手才发现关键那步走不通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要动手实现几个有代表性的 baseline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目的不是比高下，是拿到一手经验：这个任务到底难在哪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复现时遇到的报错、调不上去的指标、反直觉的曲线，才是真材料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根据实现中的一手经验，反过来修正对机理的判断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通过分析和实验，才能确定想法的可行性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10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把思路写成文档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170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想清楚才能写清楚，写清楚反过来帮你想清楚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文档要回答三个问题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短文档，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页以内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写完之后讲给别人听</a:t>
            </a:r>
          </a:p>
        </p:txBody>
      </p:sp>
      <p:sp>
        <p:nvSpPr>
          <p:cNvPr id="41995" name="文本框 1"/>
          <p:cNvSpPr txBox="1"/>
          <p:nvPr/>
        </p:nvSpPr>
        <p:spPr>
          <a:xfrm>
            <a:off x="-11887" y="4572000"/>
            <a:ext cx="4304995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000" i="1" dirty="0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Booth et al., The Craft of Research, Ch. 4（写作即思考）。</a:t>
            </a:r>
          </a:p>
        </p:txBody>
      </p:sp>
      <p:pic>
        <p:nvPicPr>
          <p:cNvPr id="41996" name="图片 9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92" y="2305581"/>
            <a:ext cx="8273049" cy="2249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11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论证比代码先行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184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先算一遍，还是先写代码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内存够不够：估算半小时 vs 实现到一半才发现要重写，一学期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瓶颈在 I/O 还是计算：分解耗时几分钟 vs 跑完三轮实验才看出来，三周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理论上能不能到 1 ms：一个公式 vs 上线之后才知道做不到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估算不求精确，只求在动手前知道这条路值不值得走</a:t>
            </a:r>
          </a:p>
        </p:txBody>
      </p:sp>
      <p:sp>
        <p:nvSpPr>
          <p:cNvPr id="41995" name="文本框 1"/>
          <p:cNvSpPr txBox="1"/>
          <p:nvPr/>
        </p:nvSpPr>
        <p:spPr>
          <a:xfrm>
            <a:off x="-11887" y="4572000"/>
            <a:ext cx="5833872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000" i="1" dirty="0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Fermi estimation；Jain, The Art of Computer Systems Performance Analysis, 1991。</a:t>
            </a:r>
          </a:p>
        </p:txBody>
      </p:sp>
      <p:pic>
        <p:nvPicPr>
          <p:cNvPr id="41996" name="图片 91" descr="image.png"/>
          <p:cNvPicPr>
            <a:picLocks noChangeAspect="1"/>
          </p:cNvPicPr>
          <p:nvPr/>
        </p:nvPicPr>
        <p:blipFill>
          <a:blip r:embed="rId3"/>
          <a:srcRect t="7258" b="18482"/>
          <a:stretch>
            <a:fillRect/>
          </a:stretch>
        </p:blipFill>
        <p:spPr>
          <a:xfrm>
            <a:off x="940797" y="2571750"/>
            <a:ext cx="6958793" cy="1645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12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例子：Back-of-envelope</a:t>
            </a:r>
            <a:r>
              <a:rPr lang="en-US" altLang="zh-CN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 Calculation</a:t>
            </a:r>
            <a:endParaRPr lang="zh-CN" altLang="en-US" sz="2600" b="1" dirty="0">
              <a:solidFill>
                <a:srgbClr val="363535"/>
              </a:solidFill>
              <a:latin typeface="微软雅黑"/>
              <a:ea typeface="微软雅黑"/>
              <a:cs typeface="Times New Roman"/>
            </a:endParaRP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Jeff Dean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Numbers Everyone Should Know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问题：假设大多数数据访问走</a:t>
            </a:r>
            <a:r>
              <a:rPr lang="en-US" altLang="zh-CN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SSD</a:t>
            </a: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，优化内存的随机访问，有意义吗？</a:t>
            </a:r>
          </a:p>
        </p:txBody>
      </p:sp>
      <p:sp>
        <p:nvSpPr>
          <p:cNvPr id="41995" name="文本框 1"/>
          <p:cNvSpPr txBox="1"/>
          <p:nvPr/>
        </p:nvSpPr>
        <p:spPr>
          <a:xfrm>
            <a:off x="-11887" y="4572000"/>
            <a:ext cx="4999939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000" i="1" dirty="0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Jeff Dean, Numbers Everyone Should Know, Stanford CS295 talk, 2010。</a:t>
            </a:r>
          </a:p>
        </p:txBody>
      </p:sp>
      <p:pic>
        <p:nvPicPr>
          <p:cNvPr id="41996" name="图片 9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22" y="1791966"/>
            <a:ext cx="8161486" cy="23632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13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算笔账：加速十倍只快 18%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一个任务的总耗时里，计算占 20%，数据搬运和等待占 80%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比起只优化计算那 20%，搬运动作更值得动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这说明什么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优化之前先量清楚时间去哪了，凭感觉选优化对象，十有八九选错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不少「加速某个算子」的工作端到端收益很小，原因就在这里</a:t>
            </a:r>
          </a:p>
        </p:txBody>
      </p:sp>
      <p:sp>
        <p:nvSpPr>
          <p:cNvPr id="41995" name="文本框 1"/>
          <p:cNvSpPr txBox="1"/>
          <p:nvPr/>
        </p:nvSpPr>
        <p:spPr>
          <a:xfrm>
            <a:off x="-11887" y="4572000"/>
            <a:ext cx="4791455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000" i="1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Amdahl's Law：speedup = 1 / ((1-p) + p/s)，p=0.2、s=10 → 1.22×。</a:t>
            </a:r>
          </a:p>
        </p:txBody>
      </p:sp>
      <p:pic>
        <p:nvPicPr>
          <p:cNvPr id="41996" name="图片 9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312" y="2688336"/>
            <a:ext cx="5471374" cy="18470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6FC8C-B274-F827-2EEA-9F0C43671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3" name="组合 3">
            <a:extLst>
              <a:ext uri="{FF2B5EF4-FFF2-40B4-BE49-F238E27FC236}">
                <a16:creationId xmlns:a16="http://schemas.microsoft.com/office/drawing/2014/main" id="{644F3CD8-8139-C729-F98D-A78E93C4DA0F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2057" name="矩形 1">
              <a:extLst>
                <a:ext uri="{FF2B5EF4-FFF2-40B4-BE49-F238E27FC236}">
                  <a16:creationId xmlns:a16="http://schemas.microsoft.com/office/drawing/2014/main" id="{E6706B42-110A-AC73-B069-31A04E2EC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8" name="标题 1">
              <a:extLst>
                <a:ext uri="{FF2B5EF4-FFF2-40B4-BE49-F238E27FC236}">
                  <a16:creationId xmlns:a16="http://schemas.microsoft.com/office/drawing/2014/main" id="{BDEDC995-9FDC-21A4-20EC-EF138F0072A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2054" name="灯片编号占位符 5">
            <a:extLst>
              <a:ext uri="{FF2B5EF4-FFF2-40B4-BE49-F238E27FC236}">
                <a16:creationId xmlns:a16="http://schemas.microsoft.com/office/drawing/2014/main" id="{CF14EABA-595A-C9BB-22B6-547C94550A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7543C62-3670-4004-A05D-8FE5695BEC36}" type="slidenum">
              <a:rPr lang="zh-CN" altLang="en-US" sz="1800" smtClean="0">
                <a:latin typeface="Times New Roman" pitchFamily="18" charset="0"/>
              </a:rPr>
              <a:pPr eaLnBrk="1" hangingPunct="1"/>
              <a:t>14</a:t>
            </a:fld>
            <a:endParaRPr lang="zh-CN" altLang="en-US" sz="1800">
              <a:latin typeface="Times New Roman" pitchFamily="18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ECC23B7E-18C8-8474-A567-BC4B3E69FE86}"/>
              </a:ext>
            </a:extLst>
          </p:cNvPr>
          <p:cNvSpPr txBox="1">
            <a:spLocks/>
          </p:cNvSpPr>
          <p:nvPr/>
        </p:nvSpPr>
        <p:spPr bwMode="auto">
          <a:xfrm>
            <a:off x="0" y="2079307"/>
            <a:ext cx="91440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实现</a:t>
            </a:r>
          </a:p>
        </p:txBody>
      </p:sp>
    </p:spTree>
    <p:extLst>
      <p:ext uri="{BB962C8B-B14F-4D97-AF65-F5344CB8AC3E}">
        <p14:creationId xmlns:p14="http://schemas.microsoft.com/office/powerpoint/2010/main" val="210300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15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实现：精简，快速迭代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396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20% 的实现完成 80% 的功能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可以省略：完整 UI、云端部署、边界情况优化、跨平台支持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不能省略：核心机制跑通、公平 baseline、正确性检查、关键指标的多次运行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单变量更新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同时改多个变量，说不清是哪个起了作用，实验也没法复现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失败同样有价值：没跑通说明假设错了、边界没考虑到，或实现有 bug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确定实现和试验的目标和优先级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在什么数据集和场景下，对比哪些基线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取得什么样的结果，就基本能确定方法可行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不同领域甚至小问题，能够发表的标准不一样，要熟悉领域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每次迭代记下：改了什么、看到什么、下一步做什么</a:t>
            </a:r>
          </a:p>
        </p:txBody>
      </p:sp>
      <p:sp>
        <p:nvSpPr>
          <p:cNvPr id="41995" name="文本框 1"/>
          <p:cNvSpPr txBox="1"/>
          <p:nvPr/>
        </p:nvSpPr>
        <p:spPr>
          <a:xfrm>
            <a:off x="-11887" y="4572000"/>
            <a:ext cx="4166006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000" i="1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MVP 的判据是「核心机制能不能跑通」，不是「功能齐不齐」。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16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不要有工程洁癖，但也不能不严谨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两件事要分开看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代码可以糙：命名、目录结构、异常处理，先能跑通就行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结论不能糙：基线调参强度、测量方法、随机种子，都要规范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两种常见误解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工程洁癖：花两周搭框架、写配置、做可视化，核心机制还没验证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反过来随手跑一次就报数字，被追问时自己都说不清那次是怎么跑的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思路定型之后，再全面严谨化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补边界、加测试、清理代码；在那之前追求整洁，是在给一个可能被推翻的想法做装修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DF62B-F4EE-1509-2F6E-D9E91A763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3" name="组合 3">
            <a:extLst>
              <a:ext uri="{FF2B5EF4-FFF2-40B4-BE49-F238E27FC236}">
                <a16:creationId xmlns:a16="http://schemas.microsoft.com/office/drawing/2014/main" id="{0B102E06-2B27-0E1D-BA07-350FC12ABE53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2057" name="矩形 1">
              <a:extLst>
                <a:ext uri="{FF2B5EF4-FFF2-40B4-BE49-F238E27FC236}">
                  <a16:creationId xmlns:a16="http://schemas.microsoft.com/office/drawing/2014/main" id="{4B667777-072F-E478-7C77-52ACD3A67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8" name="标题 1">
              <a:extLst>
                <a:ext uri="{FF2B5EF4-FFF2-40B4-BE49-F238E27FC236}">
                  <a16:creationId xmlns:a16="http://schemas.microsoft.com/office/drawing/2014/main" id="{9D1E954B-56A4-352F-AB6C-04AA424C988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2054" name="灯片编号占位符 5">
            <a:extLst>
              <a:ext uri="{FF2B5EF4-FFF2-40B4-BE49-F238E27FC236}">
                <a16:creationId xmlns:a16="http://schemas.microsoft.com/office/drawing/2014/main" id="{5BD315C4-F0A4-BEE3-ABCE-4FA21293CB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7543C62-3670-4004-A05D-8FE5695BEC36}" type="slidenum">
              <a:rPr lang="zh-CN" altLang="en-US" sz="1800" smtClean="0">
                <a:latin typeface="Times New Roman" pitchFamily="18" charset="0"/>
              </a:rPr>
              <a:pPr eaLnBrk="1" hangingPunct="1"/>
              <a:t>17</a:t>
            </a:fld>
            <a:endParaRPr lang="zh-CN" altLang="en-US" sz="1800">
              <a:latin typeface="Times New Roman" pitchFamily="18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1438BFD6-6BA8-66D0-2579-3D3A7B7E159C}"/>
              </a:ext>
            </a:extLst>
          </p:cNvPr>
          <p:cNvSpPr txBox="1">
            <a:spLocks/>
          </p:cNvSpPr>
          <p:nvPr/>
        </p:nvSpPr>
        <p:spPr bwMode="auto">
          <a:xfrm>
            <a:off x="0" y="2079307"/>
            <a:ext cx="91440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实验设计</a:t>
            </a:r>
          </a:p>
        </p:txBody>
      </p:sp>
    </p:spTree>
    <p:extLst>
      <p:ext uri="{BB962C8B-B14F-4D97-AF65-F5344CB8AC3E}">
        <p14:creationId xmlns:p14="http://schemas.microsoft.com/office/powerpoint/2010/main" val="351234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18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实验设计①：全面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覆盖代表性的数据集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挑领域公认、大小合适的；自造先质疑数据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覆盖代表性的基线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思路上有代表性的：说明你比的是哪条路线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近期最强的：说明你比得过当下</a:t>
            </a:r>
          </a:p>
        </p:txBody>
      </p:sp>
      <p:pic>
        <p:nvPicPr>
          <p:cNvPr id="41995" name="图片 9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71" y="2596896"/>
            <a:ext cx="7985056" cy="2103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19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实验设计②：科学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控制变量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对基线的参数和实现做同等强度的调优，每次只改一个变量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多次重复取平均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每个数字至少重复 3–5 次，报告均值和方差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只看 p 值不够，还要说清差了多少</a:t>
            </a:r>
          </a:p>
        </p:txBody>
      </p:sp>
      <p:sp>
        <p:nvSpPr>
          <p:cNvPr id="41995" name="文本框 1"/>
          <p:cNvSpPr txBox="1"/>
          <p:nvPr/>
        </p:nvSpPr>
        <p:spPr>
          <a:xfrm>
            <a:off x="-11887" y="4572000"/>
            <a:ext cx="5486400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000" i="1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Demšar, JMLR 2006；Montgomery, Design and Analysis of Experiments, 9th ed。</a:t>
            </a:r>
          </a:p>
        </p:txBody>
      </p:sp>
      <p:pic>
        <p:nvPicPr>
          <p:cNvPr id="41996" name="图片 99" descr="image.png"/>
          <p:cNvPicPr>
            <a:picLocks noChangeAspect="1"/>
          </p:cNvPicPr>
          <p:nvPr/>
        </p:nvPicPr>
        <p:blipFill>
          <a:blip r:embed="rId3"/>
          <a:srcRect b="25866"/>
          <a:stretch>
            <a:fillRect/>
          </a:stretch>
        </p:blipFill>
        <p:spPr>
          <a:xfrm>
            <a:off x="1170013" y="2720340"/>
            <a:ext cx="7020156" cy="16459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20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实验设计③：明确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193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实验配置要写清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硬件、软件栈、数据集版本、随机种子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测试指标要写清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指标怎么定义、越大越好还是越小越好、报告的是哪个统计量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别人照着你写的东西能不能复现，是重要检验标准</a:t>
            </a:r>
          </a:p>
        </p:txBody>
      </p:sp>
      <p:pic>
        <p:nvPicPr>
          <p:cNvPr id="41995" name="图片 9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8" y="2688336"/>
            <a:ext cx="7893083" cy="20116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21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实验设计④：完整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需要论证的点都要有对应实验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已有方法的弱点，要有实验说明它真的弱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我们的优势，要有实验说明它来自哪个机制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只报好的那一半，评审会自己去补另一半</a:t>
            </a:r>
          </a:p>
        </p:txBody>
      </p:sp>
      <p:pic>
        <p:nvPicPr>
          <p:cNvPr id="41995" name="图片 9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" y="2276856"/>
            <a:ext cx="8979408" cy="22776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22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细节实验：端到端之外还要展示什么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只报端到端数字通常不够，要能够展示一些有趣的现象 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几类值得单独做的实验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每一类都要能说清它回答的是哪个质疑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有的时候写我们在什么情况下不好，反而更容易让人相信那些好的数字</a:t>
            </a:r>
          </a:p>
        </p:txBody>
      </p:sp>
      <p:pic>
        <p:nvPicPr>
          <p:cNvPr id="41995" name="图片 9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" y="2368296"/>
            <a:ext cx="7098791" cy="2331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23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列出实验计划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写出来才能想清楚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数据集、基线、配置，具体是哪几个、参数从哪来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明确主次关系和优先级，时间不够时先砍次要的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排优先级的一个办法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先跑最可能推翻自己结论的那个实验</a:t>
            </a:r>
          </a:p>
        </p:txBody>
      </p:sp>
      <p:pic>
        <p:nvPicPr>
          <p:cNvPr id="41995" name="图片 9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81" y="2596896"/>
            <a:ext cx="8291437" cy="2103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39B5E-C2D7-DA03-DAEA-37F3E98C8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3" name="组合 3">
            <a:extLst>
              <a:ext uri="{FF2B5EF4-FFF2-40B4-BE49-F238E27FC236}">
                <a16:creationId xmlns:a16="http://schemas.microsoft.com/office/drawing/2014/main" id="{43985928-D116-C649-116C-DCB4AFCC60E8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2057" name="矩形 1">
              <a:extLst>
                <a:ext uri="{FF2B5EF4-FFF2-40B4-BE49-F238E27FC236}">
                  <a16:creationId xmlns:a16="http://schemas.microsoft.com/office/drawing/2014/main" id="{05E5B587-B562-1F95-9146-28C108B1D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8" name="标题 1">
              <a:extLst>
                <a:ext uri="{FF2B5EF4-FFF2-40B4-BE49-F238E27FC236}">
                  <a16:creationId xmlns:a16="http://schemas.microsoft.com/office/drawing/2014/main" id="{A1AEACE8-5FC4-1F0E-F130-BD82F33799E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2054" name="灯片编号占位符 5">
            <a:extLst>
              <a:ext uri="{FF2B5EF4-FFF2-40B4-BE49-F238E27FC236}">
                <a16:creationId xmlns:a16="http://schemas.microsoft.com/office/drawing/2014/main" id="{2471E6AA-5C7C-2211-146B-DF43FFFCB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7543C62-3670-4004-A05D-8FE5695BEC36}" type="slidenum">
              <a:rPr lang="zh-CN" altLang="en-US" sz="1800" smtClean="0">
                <a:latin typeface="Times New Roman" pitchFamily="18" charset="0"/>
              </a:rPr>
              <a:pPr eaLnBrk="1" hangingPunct="1"/>
              <a:t>24</a:t>
            </a:fld>
            <a:endParaRPr lang="zh-CN" altLang="en-US" sz="1800">
              <a:latin typeface="Times New Roman" pitchFamily="18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8ABF6281-52D8-987C-597F-8D034BB46276}"/>
              </a:ext>
            </a:extLst>
          </p:cNvPr>
          <p:cNvSpPr txBox="1">
            <a:spLocks/>
          </p:cNvSpPr>
          <p:nvPr/>
        </p:nvSpPr>
        <p:spPr bwMode="auto">
          <a:xfrm>
            <a:off x="0" y="2079307"/>
            <a:ext cx="91440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0" indent="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应对失败与总结反思</a:t>
            </a:r>
          </a:p>
        </p:txBody>
      </p:sp>
    </p:spTree>
    <p:extLst>
      <p:ext uri="{BB962C8B-B14F-4D97-AF65-F5344CB8AC3E}">
        <p14:creationId xmlns:p14="http://schemas.microsoft.com/office/powerpoint/2010/main" val="212477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25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应对失败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解决问题的尝试，并不总是成功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大多数想法最后没做成，这不是例外，是常态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更难受的情况：前路不明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不是失败了，而是不知道下一步往哪走，也不确定还有没有改善空间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这时候该做的是停下编程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留出时间复盘：哪些现象解释不通，原始假设哪一条可能错了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给导师或同学讲一遍，别人常常一句话指出你绕了远路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确认这条路走不通就换问题，沉没成本不该决定研究方向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26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分析和反思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收敛性、复杂度、资源开销，跟已有工作比是什么位置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复杂度是降了一阶，还是常数项小一点？这决定结论能写多大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场景适应性和易用性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换个规模、换份数据还成立吗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方法有什么缺项和改进方向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把没做到的一条条列出来，说明是没时间做还是这样做不了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能说清缺陷的人，比只讲优点的人更可信</a:t>
            </a: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评审不会因为你有局限而拒稿，没有完美的没有缺陷的方法，能够说清楚缺陷和未来方向也非常重要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27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常见的逻辑谬误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3875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四种最常见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相关当因果：有没有控制混淆变量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以偏概全：一个数据集说明不了全部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选择性汇报：只展示有利的 5 次，藏起失败的 95 次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不公平比较：新方法调一周，baseline 跑默认参数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四种更隐蔽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指标偷换：优化了离线 AUC，线上指标一动不动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混杂变量：一次改 N 个变量，功劳全归新算法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事后解释：先看结果再编假设和解释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缺少反证：实验全设计成「能成功」的样子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交稿前自己反问五轮：这个结论在反问下还站得住吗？</a:t>
            </a:r>
          </a:p>
        </p:txBody>
      </p:sp>
      <p:sp>
        <p:nvSpPr>
          <p:cNvPr id="41995" name="文本框 1"/>
          <p:cNvSpPr txBox="1"/>
          <p:nvPr/>
        </p:nvSpPr>
        <p:spPr>
          <a:xfrm>
            <a:off x="-11887" y="4572000"/>
            <a:ext cx="5347411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000" i="1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Nuzzo, Nature 2014；Kerr 1998；Nosek et al., Science 2012；Popper, 1959。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0299-0D64-D868-D3BA-8253E9F5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>
            <a:extLst>
              <a:ext uri="{FF2B5EF4-FFF2-40B4-BE49-F238E27FC236}">
                <a16:creationId xmlns:a16="http://schemas.microsoft.com/office/drawing/2014/main" id="{FFD812A8-AF9E-8C91-8FC5-D64C07950C79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>
              <a:extLst>
                <a:ext uri="{FF2B5EF4-FFF2-40B4-BE49-F238E27FC236}">
                  <a16:creationId xmlns:a16="http://schemas.microsoft.com/office/drawing/2014/main" id="{B23605A6-4911-8639-B9A6-CF8DACFD9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>
              <a:extLst>
                <a:ext uri="{FF2B5EF4-FFF2-40B4-BE49-F238E27FC236}">
                  <a16:creationId xmlns:a16="http://schemas.microsoft.com/office/drawing/2014/main" id="{545EEF43-D2C1-3B07-83AF-9B7E3EA2A67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>
            <a:extLst>
              <a:ext uri="{FF2B5EF4-FFF2-40B4-BE49-F238E27FC236}">
                <a16:creationId xmlns:a16="http://schemas.microsoft.com/office/drawing/2014/main" id="{9E357326-5F67-6C34-077D-002111CA6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28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>
            <a:extLst>
              <a:ext uri="{FF2B5EF4-FFF2-40B4-BE49-F238E27FC236}">
                <a16:creationId xmlns:a16="http://schemas.microsoft.com/office/drawing/2014/main" id="{18427FA2-3B0A-E41C-288B-B4AE09A250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>
            <a:extLst>
              <a:ext uri="{FF2B5EF4-FFF2-40B4-BE49-F238E27FC236}">
                <a16:creationId xmlns:a16="http://schemas.microsoft.com/office/drawing/2014/main" id="{D352AB38-C1B4-A9EB-E844-DABC523EA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 dirty="0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杂谈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78488F61-40AD-29DD-B0BC-B6F797653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>
            <a:extLst>
              <a:ext uri="{FF2B5EF4-FFF2-40B4-BE49-F238E27FC236}">
                <a16:creationId xmlns:a16="http://schemas.microsoft.com/office/drawing/2014/main" id="{AB166F65-F563-C8D7-19CE-6B4BE91C42D1}"/>
              </a:ext>
            </a:extLst>
          </p:cNvPr>
          <p:cNvSpPr txBox="1"/>
          <p:nvPr/>
        </p:nvSpPr>
        <p:spPr>
          <a:xfrm>
            <a:off x="80467" y="685800"/>
            <a:ext cx="897940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工作速度越来越快，热点变换越来越频繁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善用模型和自动化工具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劳逸结合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高效工作和思考的时间才是有效时间，不要盲目堆时长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保持专注，特定时间不允许打扰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规律运动和放松，保持好状态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规律汇报和研讨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2-3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周应该和导师或者同学有一次深度讨论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整个项目周期有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3-4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次讨论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通过准备讨论，理清思路和进行反思</a:t>
            </a:r>
          </a:p>
        </p:txBody>
      </p:sp>
      <p:sp>
        <p:nvSpPr>
          <p:cNvPr id="41995" name="文本框 1">
            <a:extLst>
              <a:ext uri="{FF2B5EF4-FFF2-40B4-BE49-F238E27FC236}">
                <a16:creationId xmlns:a16="http://schemas.microsoft.com/office/drawing/2014/main" id="{AB802FFC-6ABF-1BEE-7F4F-9A1AC208727D}"/>
              </a:ext>
            </a:extLst>
          </p:cNvPr>
          <p:cNvSpPr txBox="1"/>
          <p:nvPr/>
        </p:nvSpPr>
        <p:spPr>
          <a:xfrm>
            <a:off x="-11887" y="4572000"/>
            <a:ext cx="5347411" cy="2459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000" i="1">
                <a:solidFill>
                  <a:srgbClr val="000000"/>
                </a:solidFill>
                <a:latin typeface="Arial"/>
                <a:ea typeface="微软雅黑"/>
                <a:cs typeface="Arial"/>
              </a:rPr>
              <a:t>Nuzzo, Nature 2014；Kerr 1998；Nosek et al., Science 2012；Popper, 1959。</a:t>
            </a:r>
          </a:p>
        </p:txBody>
      </p:sp>
    </p:spTree>
    <p:extLst>
      <p:ext uri="{BB962C8B-B14F-4D97-AF65-F5344CB8AC3E}">
        <p14:creationId xmlns:p14="http://schemas.microsoft.com/office/powerpoint/2010/main" val="2503021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29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r>
              <a:rPr lang="zh-CN" altLang="en-US" sz="2600" b="1">
                <a:solidFill>
                  <a:srgbClr val="363535"/>
                </a:solidFill>
                <a:latin typeface="微软雅黑"/>
                <a:ea typeface="微软雅黑"/>
                <a:cs typeface="Times New Roman"/>
              </a:rPr>
              <a:t>准备研究成果汇报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sp>
        <p:nvSpPr>
          <p:cNvPr id="41994" name="Content Placeholder 2"/>
          <p:cNvSpPr txBox="1"/>
          <p:nvPr/>
        </p:nvSpPr>
        <p:spPr>
          <a:xfrm>
            <a:off x="80467" y="685800"/>
            <a:ext cx="8979408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定义清楚问题和场景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听众没读过你读的东西，前三页讲不清问题，后面全白讲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介绍相关工作的主要思路和局限性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讲思路和局限，不要念论文；指向你准备补的那个洞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介绍自己的工作，聚焦 2–3 个主要的点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别按时间顺序流水账，挑最能说明「为什么有效」的点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理清每个子步骤的输入和输出，听众才跟得上</a:t>
            </a:r>
          </a:p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展示实验结果，明确实验结论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每张图表配一句话说明它证明了什么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echEd_2012_Template_16x9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TechEd_2012_Template_16x9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12401</TotalTime>
  <Pages>0</Pages>
  <Words>3292</Words>
  <Characters>0</Characters>
  <Application>Microsoft Office PowerPoint</Application>
  <DocSecurity>0</DocSecurity>
  <PresentationFormat>全屏显示(16:9)</PresentationFormat>
  <Lines>0</Lines>
  <Paragraphs>310</Paragraphs>
  <Slides>29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微软雅黑</vt:lpstr>
      <vt:lpstr>Arial</vt:lpstr>
      <vt:lpstr>Segoe UI</vt:lpstr>
      <vt:lpstr>Times New Roman</vt:lpstr>
      <vt:lpstr>Wingdings</vt:lpstr>
      <vt:lpstr>TechEd_2012_Template_16x9</vt:lpstr>
      <vt:lpstr>PowerPoint 演示文稿</vt:lpstr>
      <vt:lpstr>本讲内容</vt:lpstr>
      <vt:lpstr>回顾：研究问题从哪来</vt:lpstr>
      <vt:lpstr>PowerPoint 演示文稿</vt:lpstr>
      <vt:lpstr>从机理出发构思解法</vt:lpstr>
      <vt:lpstr>第一性原理：从基本约束和条件出发</vt:lpstr>
      <vt:lpstr>决定解法的切入点</vt:lpstr>
      <vt:lpstr>PowerPoint 演示文稿</vt:lpstr>
      <vt:lpstr>Talk is cheap, show me the code</vt:lpstr>
      <vt:lpstr>把思路写成文档</vt:lpstr>
      <vt:lpstr>论证比代码先行</vt:lpstr>
      <vt:lpstr>例子：Back-of-envelope Calculation</vt:lpstr>
      <vt:lpstr>算笔账：加速十倍只快 18%</vt:lpstr>
      <vt:lpstr>PowerPoint 演示文稿</vt:lpstr>
      <vt:lpstr>实现：精简，快速迭代</vt:lpstr>
      <vt:lpstr>不要有工程洁癖，但也不能不严谨</vt:lpstr>
      <vt:lpstr>PowerPoint 演示文稿</vt:lpstr>
      <vt:lpstr>实验设计①：全面</vt:lpstr>
      <vt:lpstr>实验设计②：科学</vt:lpstr>
      <vt:lpstr>实验设计③：明确</vt:lpstr>
      <vt:lpstr>实验设计④：完整</vt:lpstr>
      <vt:lpstr>细节实验：端到端之外还要展示什么</vt:lpstr>
      <vt:lpstr>列出实验计划</vt:lpstr>
      <vt:lpstr>PowerPoint 演示文稿</vt:lpstr>
      <vt:lpstr>应对失败</vt:lpstr>
      <vt:lpstr>分析和反思</vt:lpstr>
      <vt:lpstr>常见的逻辑谬误</vt:lpstr>
      <vt:lpstr>杂谈</vt:lpstr>
      <vt:lpstr>准备研究成果汇报</vt:lpstr>
    </vt:vector>
  </TitlesOfParts>
  <Manager>&lt;Content Manager Name Here&gt;</Manager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SAE-LR</dc:title>
  <dc:creator>Sonic</dc:creator>
  <cp:lastModifiedBy>潇 晏</cp:lastModifiedBy>
  <cp:revision>974</cp:revision>
  <dcterms:created xsi:type="dcterms:W3CDTF">2012-03-22T18:48:00Z</dcterms:created>
  <dcterms:modified xsi:type="dcterms:W3CDTF">2026-09-28T08:40:53Z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0x010100B88FC3ECA26D1C46B3C4C83281D2EB9C003BBE479AF4108146A616B6B5E7069DBC</vt:lpwstr>
  </property>
  <property fmtid="{D5CDD505-2E9C-101B-9397-08002B2CF9AE}" pid="3" name="Event Venue">
    <vt:lpwstr>232;#Orange County Convention Center Orlando, FL|bd993e89-aa48-4695-84e0-3b53e88b1a79</vt:lpwstr>
  </property>
  <property fmtid="{D5CDD505-2E9C-101B-9397-08002B2CF9AE}" pid="4" name="Event Location">
    <vt:lpwstr>231;#Orlando|99ded043-d247-43a1-9b7a-028ecd66d1eb</vt:lpwstr>
  </property>
  <property fmtid="{D5CDD505-2E9C-101B-9397-08002B2CF9AE}" pid="5" name="Event1">
    <vt:lpwstr>126;#TechEd|ac8fad57-eb30-43a8-b5bd-05dcf2cf2246</vt:lpwstr>
  </property>
  <property fmtid="{D5CDD505-2E9C-101B-9397-08002B2CF9AE}" pid="6" name="KSOProductBuildVer">
    <vt:lpwstr>2052-9.1.0.4180</vt:lpwstr>
  </property>
</Properties>
</file>