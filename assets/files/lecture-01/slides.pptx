
<file path=[Content_Types].xml><?xml version="1.0" encoding="utf-8"?>
<Types xmlns="http://schemas.openxmlformats.org/package/2006/content-types">
  <Default Extension="jpeg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27"/>
  </p:notesMasterIdLst>
  <p:handoutMasterIdLst>
    <p:handoutMasterId r:id="rId28"/>
  </p:handoutMasterIdLst>
  <p:sldIdLst>
    <p:sldId id="281" r:id="rId2"/>
    <p:sldId id="259" r:id="rId3"/>
    <p:sldId id="282" r:id="rId4"/>
    <p:sldId id="263" r:id="rId5"/>
    <p:sldId id="28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5" r:id="rId22"/>
    <p:sldId id="287" r:id="rId23"/>
    <p:sldId id="280" r:id="rId24"/>
    <p:sldId id="288" r:id="rId25"/>
    <p:sldId id="286" r:id="rId26"/>
  </p:sldIdLst>
  <p:sldSz cx="9144000" cy="5143500" type="screen16x9"/>
  <p:notesSz cx="6858000" cy="9144000"/>
  <p:defaultTextStyle>
    <a:defPPr>
      <a:defRPr lang="zh-CN"/>
    </a:defPPr>
    <a:lvl1pPr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342900" indent="1143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685800" indent="2286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028700" indent="3429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371600" indent="4572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">
          <p15:clr>
            <a:srgbClr val="A4A3A4"/>
          </p15:clr>
        </p15:guide>
        <p15:guide id="2" orient="horz" pos="900">
          <p15:clr>
            <a:srgbClr val="A4A3A4"/>
          </p15:clr>
        </p15:guide>
        <p15:guide id="3" orient="horz" pos="2052">
          <p15:clr>
            <a:srgbClr val="A4A3A4"/>
          </p15:clr>
        </p15:guide>
        <p15:guide id="4" orient="horz" pos="3132">
          <p15:clr>
            <a:srgbClr val="A4A3A4"/>
          </p15:clr>
        </p15:guide>
        <p15:guide id="5" orient="horz" pos="1116">
          <p15:clr>
            <a:srgbClr val="A4A3A4"/>
          </p15:clr>
        </p15:guide>
        <p15:guide id="6" orient="horz" pos="684">
          <p15:clr>
            <a:srgbClr val="A4A3A4"/>
          </p15:clr>
        </p15:guide>
        <p15:guide id="7" pos="2880">
          <p15:clr>
            <a:srgbClr val="A4A3A4"/>
          </p15:clr>
        </p15:guide>
        <p15:guide id="8" pos="245">
          <p15:clr>
            <a:srgbClr val="A4A3A4"/>
          </p15:clr>
        </p15:guide>
        <p15:guide id="9" pos="893">
          <p15:clr>
            <a:srgbClr val="A4A3A4"/>
          </p15:clr>
        </p15:guide>
        <p15:guide id="10" pos="5514">
          <p15:clr>
            <a:srgbClr val="A4A3A4"/>
          </p15:clr>
        </p15:guide>
        <p15:guide id="11" pos="5299">
          <p15:clr>
            <a:srgbClr val="A4A3A4"/>
          </p15:clr>
        </p15:guide>
        <p15:guide id="12" pos="45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8f51119b6961bf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F9C2E"/>
    <a:srgbClr val="EA7E7E"/>
    <a:srgbClr val="F610E6"/>
    <a:srgbClr val="A3D769"/>
    <a:srgbClr val="FBEFC7"/>
    <a:srgbClr val="FFCB25"/>
    <a:srgbClr val="2486C2"/>
    <a:srgbClr val="FFE181"/>
    <a:srgbClr val="E36D6D"/>
    <a:srgbClr val="D5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86" autoAdjust="0"/>
    <p:restoredTop sz="86575" autoAdjust="0"/>
  </p:normalViewPr>
  <p:slideViewPr>
    <p:cSldViewPr>
      <p:cViewPr varScale="1">
        <p:scale>
          <a:sx n="104" d="100"/>
          <a:sy n="104" d="100"/>
        </p:scale>
        <p:origin x="1164" y="48"/>
      </p:cViewPr>
      <p:guideLst>
        <p:guide orient="horz" pos="108"/>
        <p:guide orient="horz" pos="900"/>
        <p:guide orient="horz" pos="2052"/>
        <p:guide orient="horz" pos="3132"/>
        <p:guide orient="horz" pos="1116"/>
        <p:guide orient="horz" pos="684"/>
        <p:guide pos="2880"/>
        <p:guide pos="245"/>
        <p:guide pos="893"/>
        <p:guide pos="5514"/>
        <p:guide pos="5299"/>
        <p:guide pos="45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4295" cy="742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08247A-13B5-491F-9F97-C32DC2A76F1F}" type="datetimeFigureOut">
              <a:rPr lang="zh-CN" altLang="en-US"/>
              <a:pPr>
                <a:defRPr/>
              </a:pPr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BF023A7-28A7-4F76-9563-AF5157558A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386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Header Placeholder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Segoe U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63021AE8-D0B7-4BF6-B781-51FEE193BFAD}" type="datetime1">
              <a:rPr lang="en-US"/>
              <a:pPr>
                <a:defRPr/>
              </a:pPr>
              <a:t>9/18/2026</a:t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47108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47109" name="Notes Placeholder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Click to edit Master text styles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Second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Third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Fourth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Fifth level</a:t>
            </a:r>
          </a:p>
        </p:txBody>
      </p:sp>
      <p:sp>
        <p:nvSpPr>
          <p:cNvPr id="10246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500">
                <a:latin typeface="Segoe UI" pitchFamily="34" charset="0"/>
                <a:sym typeface="Segoe U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7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172200" y="8685213"/>
            <a:ext cx="684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C602B0D3-82A8-4140-9467-B613966B3B70}" type="slidenum">
              <a:rPr lang="en-US"/>
              <a:pPr>
                <a:defRPr/>
              </a:pPr>
              <a:t>‹#›</a:t>
            </a:fld>
            <a:endParaRPr lang="en-US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87260"/>
      </p:ext>
    </p:extLst>
  </p:cSld>
  <p:clrMap bg1="dk2" tx1="lt1" bg2="dk1" tx2="lt2" accent1="accent1" accent2="accent2" accent3="accent3" accent4="accent4" accent5="accent5" accent6="accent6" hlink="hlink" folHlink="folHlink"/>
  <p:hf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9/18/2026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1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0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科研查水表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4294967295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63021AE8-D0B7-4BF6-B781-51FEE193BFAD}" type="datetime1">
              <a:rPr lang="en-US" smtClean="0"/>
              <a:pPr>
                <a:defRPr/>
              </a:pPr>
              <a:t>9/18/2026</a:t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02B0D3-82A8-4140-9467-B613966B3B70}" type="slidenum">
              <a:rPr lang="en-US" smtClean="0"/>
              <a:pPr>
                <a:defRPr/>
              </a:pPr>
              <a:t>2</a:t>
            </a:fld>
            <a:endParaRPr lang="en-US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4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  <a:pPr>
                <a:defRPr/>
              </a:pPr>
              <a:t>2026/9/18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805700"/>
      </p:ext>
    </p:extLst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Arial" charset="0"/>
              </a:rPr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  <a:pPr>
                <a:defRPr/>
              </a:pPr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4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876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5738" indent="-25241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29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1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3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5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1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/>
          <p:cNvSpPr txBox="1">
            <a:spLocks/>
          </p:cNvSpPr>
          <p:nvPr/>
        </p:nvSpPr>
        <p:spPr bwMode="auto">
          <a:xfrm>
            <a:off x="0" y="1177147"/>
            <a:ext cx="9144000" cy="130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138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indent="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科研训练三</a:t>
            </a:r>
            <a:endParaRPr lang="en-US" altLang="zh-CN" sz="3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Arial" charset="0"/>
            </a:endParaRPr>
          </a:p>
          <a:p>
            <a:pPr indent="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1 </a:t>
            </a:r>
            <a:r>
              <a:rPr lang="zh-CN" altLang="en-US" sz="2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引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言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Arial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7F9970-198F-47DF-22CB-641301F7FDA3}"/>
              </a:ext>
            </a:extLst>
          </p:cNvPr>
          <p:cNvSpPr txBox="1">
            <a:spLocks/>
          </p:cNvSpPr>
          <p:nvPr/>
        </p:nvSpPr>
        <p:spPr>
          <a:xfrm>
            <a:off x="-172985" y="3101049"/>
            <a:ext cx="9144000" cy="18434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晏潇 博士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武汉大学，武汉数学与智能研究院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yanxiaosunny@gmail.com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08F8F7-1DB1-1497-4A68-E27E36CC8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14700"/>
            <a:ext cx="9144000" cy="864010"/>
          </a:xfrm>
        </p:spPr>
        <p:txBody>
          <a:bodyPr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晏潇 博士</a:t>
            </a:r>
            <a:endParaRPr lang="en-US" altLang="zh-CN" sz="18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73649A2A-3FD1-1348-448F-0C12696C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" y="78611"/>
            <a:ext cx="706998" cy="7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5"/>
            <a:ext cx="4754880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什么是科研？</a:t>
            </a: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B9827FC0-4CB1-36FE-4F61-6173026A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01DB92A-8A19-64E3-3690-5957764A8105}"/>
              </a:ext>
            </a:extLst>
          </p:cNvPr>
          <p:cNvSpPr txBox="1"/>
          <p:nvPr/>
        </p:nvSpPr>
        <p:spPr>
          <a:xfrm>
            <a:off x="1827812" y="1574534"/>
            <a:ext cx="1951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科研</a:t>
            </a: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发论文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DF5A76C-7CE1-172B-4569-05234F660A1C}"/>
              </a:ext>
            </a:extLst>
          </p:cNvPr>
          <p:cNvSpPr/>
          <p:nvPr/>
        </p:nvSpPr>
        <p:spPr bwMode="auto">
          <a:xfrm>
            <a:off x="4041898" y="1631376"/>
            <a:ext cx="590576" cy="4616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A541B9-A172-7EA5-BCC7-59081F1E8D8C}"/>
              </a:ext>
            </a:extLst>
          </p:cNvPr>
          <p:cNvSpPr txBox="1"/>
          <p:nvPr/>
        </p:nvSpPr>
        <p:spPr>
          <a:xfrm>
            <a:off x="4943475" y="1590020"/>
            <a:ext cx="3206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好研究</a:t>
            </a: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</a:t>
            </a: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CCF-A</a:t>
            </a: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D31D55-A514-1708-87DF-10FF2B4B18D7}"/>
              </a:ext>
            </a:extLst>
          </p:cNvPr>
          <p:cNvSpPr txBox="1"/>
          <p:nvPr/>
        </p:nvSpPr>
        <p:spPr>
          <a:xfrm>
            <a:off x="2360295" y="2927330"/>
            <a:ext cx="4096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研究做得好</a:t>
            </a: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多发</a:t>
            </a: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CCF-A</a:t>
            </a: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</a:t>
            </a:r>
          </a:p>
        </p:txBody>
      </p:sp>
      <p:sp>
        <p:nvSpPr>
          <p:cNvPr id="2" name="箭头: 右 13">
            <a:extLst>
              <a:ext uri="{FF2B5EF4-FFF2-40B4-BE49-F238E27FC236}">
                <a16:creationId xmlns:a16="http://schemas.microsoft.com/office/drawing/2014/main" id="{C1D08F71-1255-58E6-7409-38E391B0557A}"/>
              </a:ext>
            </a:extLst>
          </p:cNvPr>
          <p:cNvSpPr/>
          <p:nvPr/>
        </p:nvSpPr>
        <p:spPr bwMode="auto">
          <a:xfrm rot="5400000">
            <a:off x="4138581" y="2375199"/>
            <a:ext cx="461665" cy="52612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884451-3100-ECD9-6D8C-1741E25E04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55" b="18222"/>
          <a:stretch>
            <a:fillRect/>
          </a:stretch>
        </p:blipFill>
        <p:spPr>
          <a:xfrm>
            <a:off x="7573006" y="3165261"/>
            <a:ext cx="1278897" cy="1299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6" grpId="0"/>
      <p:bldP spid="19" grpId="0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C2F9-1569-779B-8126-3525E4F0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E510F9CC-759F-8DA6-4DBE-1F38899EDF37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5C370D8B-A3D9-020A-6AF1-07DF538FB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CAF39C4A-8DA5-53D1-C8D4-9081A460083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69197A74-931A-DDC5-7E9D-9BB85CB0E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53AE82D0-9199-2888-FF9E-8431AA98AF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73B1635D-28B2-15F6-810F-9D6AE5F52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5"/>
            <a:ext cx="4754880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怎样的研究算好？</a:t>
            </a: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6A1940AA-3AC3-44D3-6859-EDDFAF470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18507B7-DD16-8459-0412-134848D81568}"/>
              </a:ext>
            </a:extLst>
          </p:cNvPr>
          <p:cNvSpPr txBox="1"/>
          <p:nvPr/>
        </p:nvSpPr>
        <p:spPr>
          <a:xfrm>
            <a:off x="1525905" y="829739"/>
            <a:ext cx="6410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 a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Prominent Problem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Principled Way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2C95-8C88-E7CF-70B9-7A8E36E89566}"/>
              </a:ext>
            </a:extLst>
          </p:cNvPr>
          <p:cNvSpPr txBox="1"/>
          <p:nvPr/>
        </p:nvSpPr>
        <p:spPr>
          <a:xfrm>
            <a:off x="1" y="1281204"/>
            <a:ext cx="9144000" cy="35193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Prominent Problem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：重要问题：问题可能比解法更重要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共性：影响一大类任务，不是某个问题特定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trick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基础：触及算法/模型 / 系统中的关键机制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做策略不如做机制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高价值：显著改善重要应用的质量、效率、成本、风险或体验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Principled Way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：有原则的方法：科研第一性原理是理解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可泛化：不只针对一个问题，可范围，一种基础性思维方式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机理清楚：解释「什么因素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通过什么过程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导致什么结果」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理论严谨：定义、假设、推导前后一致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证据充分：实验、证明或研究设计有力支持主要主张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Kown by Work, not by Paper Count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；好的工作，读者读完应该有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takeaway</a:t>
            </a:r>
            <a:endParaRPr lang="zh-CN" altLang="en-US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7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4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如何开始第一个科研项目？</a:t>
            </a: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104D8276-48B9-7674-0200-637FEC2D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E76D10C-C3C5-CBC4-A4EA-7853AA72FC68}"/>
              </a:ext>
            </a:extLst>
          </p:cNvPr>
          <p:cNvSpPr txBox="1"/>
          <p:nvPr/>
        </p:nvSpPr>
        <p:spPr>
          <a:xfrm>
            <a:off x="1001792" y="84707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重要问题难找？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756AF4-5232-6E45-434A-F4C5759BCF5D}"/>
              </a:ext>
            </a:extLst>
          </p:cNvPr>
          <p:cNvSpPr txBox="1"/>
          <p:nvPr/>
        </p:nvSpPr>
        <p:spPr>
          <a:xfrm>
            <a:off x="3092867" y="84707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解法很难精妙？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79FB2C-B3A7-AC3F-4A7A-45D8EA18C778}"/>
              </a:ext>
            </a:extLst>
          </p:cNvPr>
          <p:cNvSpPr txBox="1"/>
          <p:nvPr/>
        </p:nvSpPr>
        <p:spPr>
          <a:xfrm>
            <a:off x="0" y="1210637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Research is to Solve a 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Prominent Problem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Principled Way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D90CDD-9A41-C358-3C0C-6906CD22EB3F}"/>
              </a:ext>
            </a:extLst>
          </p:cNvPr>
          <p:cNvSpPr txBox="1"/>
          <p:nvPr/>
        </p:nvSpPr>
        <p:spPr>
          <a:xfrm>
            <a:off x="-921" y="187446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is to Solve a 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 Problem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 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Way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8F691BC9-3FFA-B8CE-58B8-4050EEAC13F4}"/>
              </a:ext>
            </a:extLst>
          </p:cNvPr>
          <p:cNvSpPr/>
          <p:nvPr/>
        </p:nvSpPr>
        <p:spPr bwMode="auto">
          <a:xfrm>
            <a:off x="3989040" y="1610747"/>
            <a:ext cx="563533" cy="30368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ECA568-52B1-B98E-75D3-D70127837A12}"/>
              </a:ext>
            </a:extLst>
          </p:cNvPr>
          <p:cNvSpPr txBox="1"/>
          <p:nvPr/>
        </p:nvSpPr>
        <p:spPr>
          <a:xfrm>
            <a:off x="-921" y="2218515"/>
            <a:ext cx="9144000" cy="2559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Meaningful Problem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：有意义的问题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真实存在的，有实用价值的 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“填表组合打法”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Effective Way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：有效的解法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正确率高的、速度快的、开销低的、使用容易的  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 “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限制够多，我就是世界第一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先走通流程，熟悉科研的“技术”部分，再提高“艺术部分”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非重要工作不做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发展眼光看自己的研究，对当下的研究投入十二分热爱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39750" lvl="1" indent="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None/>
            </a:pP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3A4FF6-2AED-60DE-4C7A-B7DA09ADD6F5}"/>
              </a:ext>
            </a:extLst>
          </p:cNvPr>
          <p:cNvSpPr txBox="1"/>
          <p:nvPr/>
        </p:nvSpPr>
        <p:spPr>
          <a:xfrm>
            <a:off x="5389245" y="84631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效果有限？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9630-5E53-218E-C6BC-76EDD300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C5628169-C26F-FB0E-8F5B-1CE20BFBFCCB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E67FFAB9-9449-049F-52EE-30629E9A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A6B1F688-353D-B0D9-2F97-A12652482F2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4D859048-B587-851A-88DE-90C662E3C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10790215-4B43-FB3C-35B2-E538B977E6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B8305003-88FD-87C2-FE75-D92C98575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做科研要很聪明吗？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990AA7E6-B956-D775-FF56-90F443C8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2515DF8-AED0-D0D0-216A-A1DA861C72ED}"/>
              </a:ext>
            </a:extLst>
          </p:cNvPr>
          <p:cNvSpPr txBox="1"/>
          <p:nvPr/>
        </p:nvSpPr>
        <p:spPr>
          <a:xfrm>
            <a:off x="1531052" y="220806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“气宗”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悟性强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BE5235-A56D-AD74-423F-3E435097CBFD}"/>
              </a:ext>
            </a:extLst>
          </p:cNvPr>
          <p:cNvSpPr txBox="1"/>
          <p:nvPr/>
        </p:nvSpPr>
        <p:spPr>
          <a:xfrm>
            <a:off x="5393543" y="220806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“剑宗”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多锻炼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741A336-5561-9D05-7D86-DE45CA975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245" y="872225"/>
            <a:ext cx="971373" cy="13280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4E6CDED-8E16-2DD7-EAF4-75B163F5E851}"/>
              </a:ext>
            </a:extLst>
          </p:cNvPr>
          <p:cNvSpPr txBox="1"/>
          <p:nvPr/>
        </p:nvSpPr>
        <p:spPr>
          <a:xfrm>
            <a:off x="3777616" y="142378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A9B37CF-228C-098E-7C27-8AA866EDEDF7}"/>
              </a:ext>
            </a:extLst>
          </p:cNvPr>
          <p:cNvSpPr txBox="1"/>
          <p:nvPr/>
        </p:nvSpPr>
        <p:spPr>
          <a:xfrm>
            <a:off x="0" y="2829161"/>
            <a:ext cx="9178290" cy="2559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科研有一套工作方法，需要在实践学习和熟练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文献阅读、实现实验、论文撰写、报告展示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起步阶段，挫折和失败非常正常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“论文必中定理”（博士第一定理）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持续攀爬学习曲线，熟练之后才能随心应用和创造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“精神小伙”理论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D1F5969-EB9E-FBCD-AD8E-1D3E27CDF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381" y="808274"/>
            <a:ext cx="1171338" cy="132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7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怎样才算准备好科研？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8F196C04-5323-F41D-66F7-23DFD4E69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44431A4-9EB2-2C89-0C59-0AF64A29690C}"/>
              </a:ext>
            </a:extLst>
          </p:cNvPr>
          <p:cNvSpPr txBox="1"/>
          <p:nvPr/>
        </p:nvSpPr>
        <p:spPr>
          <a:xfrm>
            <a:off x="1525905" y="839137"/>
            <a:ext cx="6066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老师，我还没有准备好做研究，计划先系统学习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XXX</a:t>
            </a:r>
            <a:endParaRPr lang="zh-CN" altLang="en-US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310363-BAF5-F605-D825-AC674A7B860F}"/>
              </a:ext>
            </a:extLst>
          </p:cNvPr>
          <p:cNvSpPr txBox="1"/>
          <p:nvPr/>
        </p:nvSpPr>
        <p:spPr>
          <a:xfrm>
            <a:off x="2194560" y="1605915"/>
            <a:ext cx="14859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基础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全面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计划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2A1BD3-CBB5-6636-0093-0D43F549961B}"/>
              </a:ext>
            </a:extLst>
          </p:cNvPr>
          <p:cNvSpPr txBox="1"/>
          <p:nvPr/>
        </p:nvSpPr>
        <p:spPr>
          <a:xfrm>
            <a:off x="2329010" y="2574690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课程学习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D48F39-2D4D-E515-2405-93C300B94A13}"/>
              </a:ext>
            </a:extLst>
          </p:cNvPr>
          <p:cNvSpPr txBox="1"/>
          <p:nvPr/>
        </p:nvSpPr>
        <p:spPr>
          <a:xfrm>
            <a:off x="5166360" y="1605915"/>
            <a:ext cx="14859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前沿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特定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按需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2376FB-9D49-3FDE-D73C-DFA848042C4D}"/>
              </a:ext>
            </a:extLst>
          </p:cNvPr>
          <p:cNvSpPr txBox="1"/>
          <p:nvPr/>
        </p:nvSpPr>
        <p:spPr>
          <a:xfrm>
            <a:off x="5300810" y="2574690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科研学习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1AE41C-130D-1B80-F725-E1F5819C5817}"/>
              </a:ext>
            </a:extLst>
          </p:cNvPr>
          <p:cNvSpPr txBox="1"/>
          <p:nvPr/>
        </p:nvSpPr>
        <p:spPr>
          <a:xfrm>
            <a:off x="4140472" y="188291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5EA7E2B-31F7-B8F8-E6AD-40A3C4E44372}"/>
              </a:ext>
            </a:extLst>
          </p:cNvPr>
          <p:cNvSpPr txBox="1"/>
          <p:nvPr/>
        </p:nvSpPr>
        <p:spPr>
          <a:xfrm>
            <a:off x="50292" y="3050929"/>
            <a:ext cx="9093708" cy="1972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勇于开始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结束本科基础课程之后，就可以开始科研  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好的研究论文，应该让本科生看懂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做中学，目标导向，时常停下规划要学什么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乐于发问，通过与人讨论学习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科研更看重“动态”智力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39750" lvl="1" indent="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None/>
            </a:pP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3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7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科研和工程的区别是什么？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800"/>
            <a:ext cx="8979408" cy="3504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科研回答「为什么」，形成思路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理解规律与机理，从现象中提炼可推广的解释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提出可检验的主张，用假设 + 实验 / 证明支持或反驳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允许精简到关键机制：20% 的实现验证 80% 的想法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39750" lvl="1" indent="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None/>
            </a:pP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工程解决「稳定性和完整性」，提供服务和产品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构建全面稳定的产品，覆盖完整需求与约束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处理边界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异常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兼容性，应对真实环境的多样性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追求可维护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可部署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可运营，在长时间尺度上不崩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5CC42EDA-07D3-3800-C9DA-A8989DEBC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10" descr="fig_vs.png">
            <a:extLst>
              <a:ext uri="{FF2B5EF4-FFF2-40B4-BE49-F238E27FC236}">
                <a16:creationId xmlns:a16="http://schemas.microsoft.com/office/drawing/2014/main" id="{610F66ED-214D-8972-3BC0-0FCEFB4AE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9" t="8511" r="53814" b="11756"/>
          <a:stretch>
            <a:fillRect/>
          </a:stretch>
        </p:blipFill>
        <p:spPr>
          <a:xfrm>
            <a:off x="6022904" y="760731"/>
            <a:ext cx="1872044" cy="1565590"/>
          </a:xfrm>
          <a:prstGeom prst="rect">
            <a:avLst/>
          </a:prstGeom>
        </p:spPr>
      </p:pic>
      <p:pic>
        <p:nvPicPr>
          <p:cNvPr id="5" name="图片 10" descr="fig_vs.png">
            <a:extLst>
              <a:ext uri="{FF2B5EF4-FFF2-40B4-BE49-F238E27FC236}">
                <a16:creationId xmlns:a16="http://schemas.microsoft.com/office/drawing/2014/main" id="{60DDE817-551C-A778-ECC7-CC90A5E9A5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00" t="10274" r="3318" b="11098"/>
          <a:stretch>
            <a:fillRect/>
          </a:stretch>
        </p:blipFill>
        <p:spPr>
          <a:xfrm>
            <a:off x="6022904" y="2438651"/>
            <a:ext cx="1886199" cy="154632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3B90C6D-AC39-EF02-5EAF-1AD01B51E369}"/>
              </a:ext>
            </a:extLst>
          </p:cNvPr>
          <p:cNvSpPr txBox="1"/>
          <p:nvPr/>
        </p:nvSpPr>
        <p:spPr>
          <a:xfrm>
            <a:off x="-3658" y="4187505"/>
            <a:ext cx="9147658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None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现实项目在两种思维之间切换：先验证机理，再补齐工程化，二者互补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8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业界也需要科研思维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-32799" y="685687"/>
            <a:ext cx="4714418" cy="2183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案例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线上延迟突然升高的排查过程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现象：线上延迟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P99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突然升高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假设：缓存命中率下降 / 热点迁移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低成本验证：分解耗时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命中率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资源图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机理分析：热点迁移导致缓存穿透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方案：调整缓存策略并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A/B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测试</a:t>
            </a: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46E5C311-C973-4C10-A6CC-B57A456FD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10" descr="fig_debug.png">
            <a:extLst>
              <a:ext uri="{FF2B5EF4-FFF2-40B4-BE49-F238E27FC236}">
                <a16:creationId xmlns:a16="http://schemas.microsoft.com/office/drawing/2014/main" id="{376B5E40-3BFC-3B31-BCD4-7D30D1BC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22" b="7785"/>
          <a:stretch>
            <a:fillRect/>
          </a:stretch>
        </p:blipFill>
        <p:spPr>
          <a:xfrm>
            <a:off x="1337667" y="2788828"/>
            <a:ext cx="6334845" cy="187630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93AF7AE-E57C-C7A7-0A44-AD92F4DBEEB3}"/>
              </a:ext>
            </a:extLst>
          </p:cNvPr>
          <p:cNvSpPr txBox="1"/>
          <p:nvPr/>
        </p:nvSpPr>
        <p:spPr>
          <a:xfrm>
            <a:off x="4505089" y="685687"/>
            <a:ext cx="4596848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“大模型斩杀线” 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基础的技术能力被模型替代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人的价值来自判断与问题定义：好问题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边界理解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评估设计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系统性复盘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人才待遇两级分化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9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计算机科研如何分类？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800"/>
            <a:ext cx="4863008" cy="411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理论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Theory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问题：性质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界限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可解性｜方法：形式化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定理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反例｜证据：证明正确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边界紧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系统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Systems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问题：性能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可靠性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扩展性｜方法：架构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原型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测量｜证据：系统效率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故障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算法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Algorithms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问题：建模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复杂度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近似｜方法：模型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算法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实验｜证据：正确性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复杂度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应用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Applications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问题：真实场景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价值｜方法：场景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评估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部署｜证据：真实任务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效果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1D67AB15-E50C-0736-8F34-988F2885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DCBB2F-7E32-1028-3653-63496228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06" y="3947584"/>
            <a:ext cx="3270014" cy="703733"/>
          </a:xfrm>
          <a:prstGeom prst="rect">
            <a:avLst/>
          </a:prstGeom>
        </p:spPr>
      </p:pic>
      <p:sp>
        <p:nvSpPr>
          <p:cNvPr id="9" name="文本框 23">
            <a:extLst>
              <a:ext uri="{FF2B5EF4-FFF2-40B4-BE49-F238E27FC236}">
                <a16:creationId xmlns:a16="http://schemas.microsoft.com/office/drawing/2014/main" id="{908C2F59-A8CE-DF96-80F9-9EBFC85E16B4}"/>
              </a:ext>
            </a:extLst>
          </p:cNvPr>
          <p:cNvSpPr txBox="1"/>
          <p:nvPr/>
        </p:nvSpPr>
        <p:spPr>
          <a:xfrm>
            <a:off x="5482881" y="4675823"/>
            <a:ext cx="294436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应用 · AlphaFold, Nature 2021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00A0D3A-10A6-8294-46DD-043E0A229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291" y="1951699"/>
            <a:ext cx="3406444" cy="783564"/>
          </a:xfrm>
          <a:prstGeom prst="rect">
            <a:avLst/>
          </a:prstGeom>
        </p:spPr>
      </p:pic>
      <p:sp>
        <p:nvSpPr>
          <p:cNvPr id="11" name="文本框 23">
            <a:extLst>
              <a:ext uri="{FF2B5EF4-FFF2-40B4-BE49-F238E27FC236}">
                <a16:creationId xmlns:a16="http://schemas.microsoft.com/office/drawing/2014/main" id="{33522B75-BF77-7EDB-63A5-69061F3A9F92}"/>
              </a:ext>
            </a:extLst>
          </p:cNvPr>
          <p:cNvSpPr txBox="1"/>
          <p:nvPr/>
        </p:nvSpPr>
        <p:spPr>
          <a:xfrm>
            <a:off x="5428084" y="2802443"/>
            <a:ext cx="294436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系统 · vLLM PagedAttention, SOSP 2023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1D6C2A3-1B1F-9992-4FF5-D4BFA3BA8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291" y="3118448"/>
            <a:ext cx="3117332" cy="439519"/>
          </a:xfrm>
          <a:prstGeom prst="rect">
            <a:avLst/>
          </a:prstGeom>
        </p:spPr>
      </p:pic>
      <p:sp>
        <p:nvSpPr>
          <p:cNvPr id="13" name="文本框 23">
            <a:extLst>
              <a:ext uri="{FF2B5EF4-FFF2-40B4-BE49-F238E27FC236}">
                <a16:creationId xmlns:a16="http://schemas.microsoft.com/office/drawing/2014/main" id="{A804F1D1-C943-D0DF-24DA-77A330AE2998}"/>
              </a:ext>
            </a:extLst>
          </p:cNvPr>
          <p:cNvSpPr txBox="1"/>
          <p:nvPr/>
        </p:nvSpPr>
        <p:spPr>
          <a:xfrm>
            <a:off x="5453809" y="3598327"/>
            <a:ext cx="294436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算法· </a:t>
            </a:r>
            <a:r>
              <a:rPr lang="en-US" altLang="zh-CN" sz="900" b="1" i="1" dirty="0" err="1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ResNet</a:t>
            </a:r>
            <a:r>
              <a:rPr lang="zh-CN" altLang="en-US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, </a:t>
            </a:r>
            <a:r>
              <a:rPr lang="en-US" altLang="zh-CN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CVPR</a:t>
            </a:r>
            <a:r>
              <a:rPr lang="zh-CN" altLang="en-US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 </a:t>
            </a:r>
            <a:r>
              <a:rPr lang="en-US" altLang="zh-CN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2016</a:t>
            </a:r>
            <a:endParaRPr lang="zh-CN" altLang="en-US" sz="900" b="1" i="1" dirty="0">
              <a:solidFill>
                <a:schemeClr val="bg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4" name="文本框 20">
            <a:extLst>
              <a:ext uri="{FF2B5EF4-FFF2-40B4-BE49-F238E27FC236}">
                <a16:creationId xmlns:a16="http://schemas.microsoft.com/office/drawing/2014/main" id="{2CD9896E-2A6E-1BC6-055F-037F3947F834}"/>
              </a:ext>
            </a:extLst>
          </p:cNvPr>
          <p:cNvSpPr txBox="1"/>
          <p:nvPr/>
        </p:nvSpPr>
        <p:spPr>
          <a:xfrm>
            <a:off x="5426477" y="1634464"/>
            <a:ext cx="294436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900" b="1" i="1" dirty="0">
                <a:solidFill>
                  <a:schemeClr val="bg1"/>
                </a:solidFill>
                <a:latin typeface="Arial"/>
                <a:ea typeface="微软雅黑"/>
                <a:cs typeface="Arial"/>
              </a:rPr>
              <a:t>理论 · Graph Isomorphism, Babai 2015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EBFCDD5-30A1-CF2A-E6CA-6D27AB1031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079"/>
          <a:stretch>
            <a:fillRect/>
          </a:stretch>
        </p:blipFill>
        <p:spPr>
          <a:xfrm>
            <a:off x="5356827" y="859702"/>
            <a:ext cx="3307146" cy="629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10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理论研究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800"/>
            <a:ext cx="8979408" cy="411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关注问题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某问题是否可解？最优复杂度是多少？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能否证明上界 / 下界？某种不可能性是否成立？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近似比能否被突破？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主要方法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形式化定义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定理与证明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反例构造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复杂度分析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概率与期望分析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归约与不可近似性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关键证据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证明是否正确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假设是否必要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边界是否紧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反例是否覆盖错误主张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归约是否有效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通常依赖问题的性质和结构</a:t>
            </a: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EE87BEC9-7560-4AA0-5DF5-1599CE22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D34B4AC-1ED5-766C-A9F8-07A6F6269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42" y="780733"/>
            <a:ext cx="3109478" cy="3909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11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系统研究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8" y="685800"/>
            <a:ext cx="5010328" cy="411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系统研究的五步法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工作负载（用户与任务需求）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瓶颈分析（资源与关键路径）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架构设计（关键机制与权衡）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最小原型（可运行的端到端系统）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测量评估（性能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开销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可靠性）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系统研究的目标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更快：公平基线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端到端与分阶段耗时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更省：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CPU 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内存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网络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存储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能耗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更可靠：故障注入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恢复时间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失败率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更可扩展：数据 / 节点 / 并发增长下的趋势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通常利用硬件和负载的特性，依赖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Insight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0E4C72CC-E706-38BD-C6EF-495E871CD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8AD0DD3-BC0A-4426-A87E-E86FABA7F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808" y="758826"/>
            <a:ext cx="3641725" cy="20221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F4ACC1-9848-EBE2-2D20-D02EF2726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540" y="2772122"/>
            <a:ext cx="3268980" cy="1992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算法研究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1" y="685800"/>
            <a:ext cx="9103994" cy="26288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四个环节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问题建模：输入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优化目标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约束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算法设计：分解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动态规划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贪心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随机化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近似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学习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分析：正确性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复杂度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近似比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收敛性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最坏情况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实验：合成 / 真实数据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规模趋势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对照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消融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跨越三类：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偏理论：复杂度 / 近似比 / 收敛性证明；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偏系统：在真实规模硬件上验证实现效率与扩展性；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偏应用：解决推荐 / 调度 / 路径 / 压缩等真实任务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也依赖对问题的深入理解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C7E73B48-905E-7830-BA8F-A66C82BA0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8DB6F90-7B1F-C6AC-6D14-7953B9E8E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410" y="3176337"/>
            <a:ext cx="4490085" cy="15575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B49AAE-0933-F81B-473D-424CE83BE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199107"/>
            <a:ext cx="2823210" cy="15570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应用研究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799"/>
            <a:ext cx="4863008" cy="4143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五个核心问题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真实场景（问题在哪发生？频率？）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目标用户（谁受影响？痛点？）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可获得数据（代表什么？是否有偏差？）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实际约束（隐私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成本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延迟）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评价指标（什么才算改善？与真实目标对齐吗？）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应用价值判定三要素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真实任务：问题在生产 / 临床 / 教育 / 金融中存在，而不是合成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数据代表性：训练 / 评测分布对齐部署分布；指标对齐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离线指标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≠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线上指标时，回到真实目标重新设计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关键在于理解应用领域和结合计算机知识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8781B59F-6D95-17C2-B7E9-F407F0E6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5161EC6-66E3-2590-0BE0-3B37D4E11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85" y="849838"/>
            <a:ext cx="3840430" cy="24517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8B3348-6CF3-65A0-D833-5592EF5FD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93990"/>
            <a:ext cx="2858341" cy="1284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14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4310"/>
            <a:ext cx="5200650" cy="445771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硕士与博士的培养是怎样的？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0" y="685800"/>
            <a:ext cx="9144000" cy="414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硕士：对一个领域有较深入了解，解决某个问题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掌握领域基本文献与方法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在指导下完成完整研究流程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能够独立解决一个明确问题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形成专业能力或研究成果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半年课程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熟悉领域；两年研究，产出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1-3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个工作；半年找工作和毕业论文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博士：对一个领域有非常深入了解，持续解决一类问题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识别重要且未解决的问题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形成独立研究判断与方向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能够持续解决一类问题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扩展领域知识边界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半年课程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熟悉领域；四年研究，产出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个以上工作；半年找工作和毕业论文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工作体系性和亮点工作比工作数量更重要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D6005809-22C8-912E-31C3-95FD2DEB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5"/>
            <a:ext cx="4754880" cy="331522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科研项目的大致流程是什么？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799"/>
            <a:ext cx="4630871" cy="22583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①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定义问题：价值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边界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问题真实？值得解决？范围清楚？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②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调研相关工作：共识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冲突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空白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已有工作做到哪？关键假设？证据覆盖？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③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设计解决方案：机理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假设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权衡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关键机理？方案如何作用？失败模式？</a:t>
            </a:r>
          </a:p>
        </p:txBody>
      </p:sp>
      <p:pic>
        <p:nvPicPr>
          <p:cNvPr id="5" name="图片 4" descr="武漢大學- 維基百科，自由的百科全書">
            <a:extLst>
              <a:ext uri="{FF2B5EF4-FFF2-40B4-BE49-F238E27FC236}">
                <a16:creationId xmlns:a16="http://schemas.microsoft.com/office/drawing/2014/main" id="{9136B777-BED5-AB83-B720-20A700CD4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10" descr="fig_pipeline.png">
            <a:extLst>
              <a:ext uri="{FF2B5EF4-FFF2-40B4-BE49-F238E27FC236}">
                <a16:creationId xmlns:a16="http://schemas.microsoft.com/office/drawing/2014/main" id="{E801B317-4006-F3C6-E7D4-ED000468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35" b="18173"/>
          <a:stretch>
            <a:fillRect/>
          </a:stretch>
        </p:blipFill>
        <p:spPr>
          <a:xfrm>
            <a:off x="1654988" y="2906840"/>
            <a:ext cx="6112699" cy="17865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F166555-5A8A-147F-6EA8-6C738F39836C}"/>
              </a:ext>
            </a:extLst>
          </p:cNvPr>
          <p:cNvSpPr txBox="1"/>
          <p:nvPr/>
        </p:nvSpPr>
        <p:spPr>
          <a:xfrm>
            <a:off x="4711338" y="835551"/>
            <a:ext cx="4598124" cy="19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④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实现与实验：快速迭代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证据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基线公平？变量清晰？负结果记录？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⑤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论文与交流：主张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局限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修订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主张明确？证据对应？贡献与边界？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过程不一定线性，通常来回反复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① 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定义问题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0" y="685800"/>
            <a:ext cx="9103995" cy="196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定义问题的四个检查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真实存在：案例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用户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系统记录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范围清楚：对象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场景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目标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非目标都明确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可推进：通过分析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实现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实验能产生新证据  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“可验证性”限制了科研，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Benchmark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成功可观察：用什么指标判断问题真的被解决了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1AF49A68-357D-984F-4D5C-710DD3E92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10" descr="fig_split.png">
            <a:extLst>
              <a:ext uri="{FF2B5EF4-FFF2-40B4-BE49-F238E27FC236}">
                <a16:creationId xmlns:a16="http://schemas.microsoft.com/office/drawing/2014/main" id="{74F57B17-E36A-AD55-ADAE-2D95A121F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61"/>
          <a:stretch>
            <a:fillRect/>
          </a:stretch>
        </p:blipFill>
        <p:spPr>
          <a:xfrm>
            <a:off x="1189871" y="2489644"/>
            <a:ext cx="6887329" cy="2288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17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② 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调研相关工作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799"/>
            <a:ext cx="5085893" cy="4143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调研的四个核心问题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解决到什么程度：已有工作能否在主要指标上达到要求？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依赖哪些关键假设：放在我的场景还成立吗？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证据覆盖哪些场景与边界：哪些场景没测？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共识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冲突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空白：哪里有争议？哪里没人做？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工具与方法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检索（关键词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同义词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学者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会议专题）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筛选（标题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摘要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结论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三遍阅读（鸟瞰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精读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复现式阅读）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做表比较（问题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假设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指标）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问题发现：把比较表中的空白转成研究问题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B1F3748D-0D0C-960D-787D-D992FF9D3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F9300A4-1CD5-E714-5A19-4A9D51067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181" y="1185801"/>
            <a:ext cx="3693352" cy="3141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18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③ 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设计解决方案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800"/>
            <a:ext cx="4491533" cy="41430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方案设计的四步走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机理：为什么当前方法不够好？关键因素是哪个？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干预：方案如何作用于这个机理？动了哪个关键变量？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收益上限 + 资源开销：理论上最好能好多少？要花多少算力 / 内存 / 时间？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失败模式 + 备选：会怎么失败？有什么退路？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设计阶段最容易踩的坑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只换模型 / 只换超参 / 只换数据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没有指出机理，就不能称为「设计」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把「指标涨了 1 个点」当成「设计成功」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必须解释为什么涨、还能不能涨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38EB7D03-AFF0-40E2-4B4B-D3CF6BDB3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49AEBBB-5D57-99E1-E469-4C1E9E04A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446" y="1086485"/>
            <a:ext cx="4392150" cy="3297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19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④ 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实现与实验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800"/>
            <a:ext cx="8979408" cy="411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先跑通公平可重复的基线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一致的硬件 / 软件栈 / 数据划分，记录环境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参数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随机种子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数据指纹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明确基线与你方法的「唯一区别」，对基线做相同强度的调参与消融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一次只加一个关键机制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从最简单的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baseline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开始，每次只引入一个新变量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用消融实验证明「哪个机制真的有用」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Claim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反推对照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变量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指标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要证明主张，需要哪些对照实验？哪些变量必须控制？哪些指标是关键证据？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负结果不是失败，是研究记录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没跑通的实验可能说明假设错了 / 边界条件没考虑 / 实现有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bug</a:t>
            </a: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最终实验设计要完整全面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763120B4-59C9-625F-C817-25859241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20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⑤ 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论文撰写与交流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40006" y="685799"/>
            <a:ext cx="9103994" cy="41430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论文结构与写作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摘要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引言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背景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问题定义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解法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相关工作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总结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要以“理解”贯穿全文：问题的核心是什么？已有方法为什么不好？我们为什么好？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写作会暴露的问题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主张与证据不对齐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贡献说不清楚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问题定义含糊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实验设计有漏洞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论文投递与审稿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可复现性与学术会议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论文：公开记录 + 同行评审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代码与数据：让别人能跑出来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实验日志：记录每次改动与判断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参加学术会议，多听和认识顶尖学者非常重要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A2D01EEA-F9B0-5550-D41B-1EFFC85E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DF34-55E2-1D97-B8C8-4A680AA7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B0792307-82E7-F631-31E5-038EA0503FDB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57ABE0F4-9812-65EE-29CA-77DA093EB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027275C5-F031-8F1C-EBB2-321E747FCB4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62D38CB7-5BCD-BF31-CDCA-1380A3778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21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41DFD635-1787-F847-2F1E-EAA4310246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7DE9B99D-86AE-2974-EB41-5A33A837D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用第一性原理指导科研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4A0CA8-C6C8-BE3E-F6BA-8CB2940CAD89}"/>
              </a:ext>
            </a:extLst>
          </p:cNvPr>
          <p:cNvSpPr txBox="1"/>
          <p:nvPr/>
        </p:nvSpPr>
        <p:spPr>
          <a:xfrm>
            <a:off x="28076" y="1512078"/>
            <a:ext cx="8979408" cy="3181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科研的第一性原理是“理解”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问题相关的核心概念是哪些？它们如何相互影响？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已有工作的缺陷，是由于什么原因造成的？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我们的解法，为什么效果良好？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对不同场景和数据集的性能差异，如何解释？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用同一概念体系，把这些内容理清楚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深入才能浅出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真正理解：简单直观解释相关工作、研究问题和解法思路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 15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秒，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分钟，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分钟，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30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分钟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多练习对话和讲，多与人探讨：贝曼学习法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A7C246F8-C1C7-394E-56FF-81FBE17D5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0FF3FB-36CC-F9F1-DBF8-F76CDADF23DC}"/>
              </a:ext>
            </a:extLst>
          </p:cNvPr>
          <p:cNvSpPr txBox="1"/>
          <p:nvPr/>
        </p:nvSpPr>
        <p:spPr>
          <a:xfrm>
            <a:off x="708116" y="865747"/>
            <a:ext cx="7875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第一性原理（</a:t>
            </a:r>
            <a:r>
              <a:rPr lang="en-US" altLang="zh-CN" sz="1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First Principles</a:t>
            </a:r>
            <a:r>
              <a:rPr lang="zh-CN" altLang="en-US" sz="1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）是一种从最基础、不可再分的事实出发进行推理的思维方式，核心是 </a:t>
            </a:r>
            <a:r>
              <a:rPr lang="zh-CN" altLang="en-US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”回到事物的本质“</a:t>
            </a:r>
            <a:r>
              <a:rPr lang="zh-CN" altLang="en-US" sz="1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，而不是依赖类比和惯例</a:t>
            </a:r>
          </a:p>
        </p:txBody>
      </p:sp>
    </p:spTree>
    <p:extLst>
      <p:ext uri="{BB962C8B-B14F-4D97-AF65-F5344CB8AC3E}">
        <p14:creationId xmlns:p14="http://schemas.microsoft.com/office/powerpoint/2010/main" val="45845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ED416-2DA3-C98A-ADFD-116A7557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43F6AF9B-CCB3-6679-21C3-15795CD299F7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24F6A505-4C2B-54AF-C2C8-A2C492F75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A717F950-E299-4111-EBD0-506DEFE1073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347B64F9-9A62-94C1-74C5-BF9BC65E0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2E14EEE3-1260-DC52-C320-A8790E03B1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176B18BA-879C-B8F8-35CE-CA69EBD03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5795010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理清“标准” 和参照“样本”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F6A7B4-CFBE-03DC-811D-B9C20923CB49}"/>
              </a:ext>
            </a:extLst>
          </p:cNvPr>
          <p:cNvSpPr txBox="1"/>
          <p:nvPr/>
        </p:nvSpPr>
        <p:spPr>
          <a:xfrm>
            <a:off x="0" y="737341"/>
            <a:ext cx="8979408" cy="4091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标准和目标：怎样才算做得好？明确标准才能找到努力方向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论文调研：找到核心和最近论文，理清核心概念和发展脉络，总结出可能研究方向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论文写作：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Sparking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Smooth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Steady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（来自“防御性写作”）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画图：易读且美观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审稿回复：直接且翔实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简历和申请文书：突出自己优点，响应读者需求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样本：找到优秀的参照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样本帮助理解标准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每个小领域有自己的标准和优秀样本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认真研读和理解样本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课程尝试为论文调研、方法构思、实验设计、论文写作、文书写作等提供样本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60B44E91-24D0-0B0A-D310-123AFCD7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F3360D8-8175-DC99-A1FA-482070280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科研新趋势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975C1F-30DD-2997-F751-8A954B729E7B}"/>
              </a:ext>
            </a:extLst>
          </p:cNvPr>
          <p:cNvSpPr txBox="1"/>
          <p:nvPr/>
        </p:nvSpPr>
        <p:spPr>
          <a:xfrm>
            <a:off x="80467" y="685799"/>
            <a:ext cx="8979408" cy="41430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场景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数据可能正在变得比解法更重要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企业作为问题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场景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数据的拥有者，影响力在变强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实践和实际更加重要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“差异化”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“打不过就加入”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论文通胀，工具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框架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· 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产品变得更重要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“上三会”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2025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年总录用数超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万篇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实际可用的成果更加吸引人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“大模型斩杀线”，人才要求变高，待遇两级分化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论文评价中性化，写作能力反而更加重要（“防御性写作”体系）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defTabSz="6858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大模型普及，论文写作质量变高，大多数论文能拿到中性评价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defTabSz="6858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审稿人素质参差不齐，倾向于中性评价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defTabSz="6858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审稿回复成为中稿重要因素，“对线”能力至关重要，这也要求深入理解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2550" lvl="1" indent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None/>
            </a:pP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255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None/>
            </a:pP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17046DBB-496A-209D-4BB6-A413C3E50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84223-D158-340D-1606-80280494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26CC9562-DE29-DD74-D297-FB46AD203804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F3635F7D-6FBA-A01A-A8F1-B67A748A6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CA0C0C95-C0F0-6AD9-2F36-648A6B29318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0128F862-8E89-B45E-FDBB-353A37A8A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24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B123EAA5-5098-D649-3ABB-139472114D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20BEA1DF-71E6-F8AA-F5D1-11C2F41F2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4086225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科研诚信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E303929-45CA-4974-6D2D-9FE6BEAF4DB2}"/>
              </a:ext>
            </a:extLst>
          </p:cNvPr>
          <p:cNvSpPr txBox="1"/>
          <p:nvPr/>
        </p:nvSpPr>
        <p:spPr>
          <a:xfrm>
            <a:off x="0" y="685799"/>
            <a:ext cx="9059875" cy="41430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显性科研诚信问题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数据和实验结果造假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抄袭剽窃（有时并不是故意）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违规使用大模型，编造参考文献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一稿多投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串通审稿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隐性科研诚信问题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Cherry Picking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，选择性报告实验结果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不报告重要基线或对基线不进行充分调优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违规署名（“友好” 挂名）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诚信是底线，一次欺骗，终身污点，多年努力和信誉归零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洁身自好，拒绝不诚信行为，勇于和不诚信行为做斗争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255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None/>
            </a:pP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410E02E7-DE33-DA5A-031B-8EC3EABD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3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550C-C8F6-A45A-9249-9300DD43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639B6D59-1DBF-3843-E86A-AD261087AA4E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65D44510-2F20-0C30-B39E-04EB55A71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19F042ED-E142-1E8B-4CEA-0A64CA72FA6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856BBE33-8D8F-948A-CD32-C576F98D4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E9BC4E3A-7428-6F4F-B175-BAA718829D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7B72FB8A-8F34-2486-D55F-0400D697F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18814"/>
            <a:ext cx="8172994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研究经历分享</a:t>
            </a:r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—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刘仁杰，</a:t>
            </a:r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MIT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博士一年级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86524897-E17F-6A8E-BED1-3A55320A7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6" y="63104"/>
            <a:ext cx="594360" cy="5943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E6902-1BAE-F5F8-E43E-C443B5F17D1B}"/>
              </a:ext>
            </a:extLst>
          </p:cNvPr>
          <p:cNvSpPr txBox="1"/>
          <p:nvPr/>
        </p:nvSpPr>
        <p:spPr>
          <a:xfrm>
            <a:off x="-1" y="716659"/>
            <a:ext cx="9144000" cy="43068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基础信息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南方科技大学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2019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级本科生，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2023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级硕士生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研究方向：机器学习系统，专注系统框架和执行效率提升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具体研究：图学习系统、大模型推理、图检索增强，智能体系统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9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成果奖项</a:t>
            </a:r>
            <a:endParaRPr lang="en-US" altLang="zh-CN" sz="19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发表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CCF-A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类论文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篇，其中第一作者（含共同）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篇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数据库旗舰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SIGMOD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篇，系统旗舰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SOSP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篇，机器学习旗舰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ICML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篇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2024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年国家奖学金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科研经历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亚马逊上海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研究院：图学习训练系统，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、分布式、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SSD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系统框架和执行加速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纽约大学：图检索增强，数据集构建，图检索算法；智能体系统，网页智能体执行范式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南方科技大学：大模型推理优化，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KV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Cache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压缩，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V-O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位置编码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博士申请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获得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 Berkeley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CMU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 PhD Offer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D3BFE9-1CE8-6F3D-0030-7D1E766D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494" y="849838"/>
            <a:ext cx="1377636" cy="146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2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13791</TotalTime>
  <Pages>0</Pages>
  <Words>4628</Words>
  <Characters>0</Characters>
  <Application>Microsoft Office PowerPoint</Application>
  <DocSecurity>0</DocSecurity>
  <PresentationFormat>全屏显示(16:9)</PresentationFormat>
  <Lines>0</Lines>
  <Paragraphs>379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微软雅黑</vt:lpstr>
      <vt:lpstr>微软雅黑</vt:lpstr>
      <vt:lpstr>Arial</vt:lpstr>
      <vt:lpstr>Segoe UI</vt:lpstr>
      <vt:lpstr>Times New Roman</vt:lpstr>
      <vt:lpstr>Wingdings</vt:lpstr>
      <vt:lpstr>TechEd_2012_Template_16x9</vt:lpstr>
      <vt:lpstr>PowerPoint 演示文稿</vt:lpstr>
      <vt:lpstr>什么是科研？</vt:lpstr>
      <vt:lpstr>怎样的研究算好？</vt:lpstr>
      <vt:lpstr>如何开始第一个科研项目？</vt:lpstr>
      <vt:lpstr>做科研要很聪明吗？</vt:lpstr>
      <vt:lpstr>怎样才算准备好科研？</vt:lpstr>
      <vt:lpstr>科研和工程的区别是什么？</vt:lpstr>
      <vt:lpstr>业界也需要科研思维</vt:lpstr>
      <vt:lpstr>计算机科研如何分类？</vt:lpstr>
      <vt:lpstr>理论研究</vt:lpstr>
      <vt:lpstr>系统研究</vt:lpstr>
      <vt:lpstr>算法研究</vt:lpstr>
      <vt:lpstr>应用研究</vt:lpstr>
      <vt:lpstr>硕士与博士的培养是怎样的？</vt:lpstr>
      <vt:lpstr>科研项目的大致流程是什么？</vt:lpstr>
      <vt:lpstr>① 定义问题</vt:lpstr>
      <vt:lpstr>② 调研相关工作</vt:lpstr>
      <vt:lpstr>③ 设计解决方案</vt:lpstr>
      <vt:lpstr>④ 实现与实验</vt:lpstr>
      <vt:lpstr>⑤ 论文撰写与交流</vt:lpstr>
      <vt:lpstr>用第一性原理指导科研</vt:lpstr>
      <vt:lpstr>理清“标准” 和参照“样本” </vt:lpstr>
      <vt:lpstr>科研新趋势</vt:lpstr>
      <vt:lpstr>科研诚信</vt:lpstr>
      <vt:lpstr>研究经历分享—刘仁杰，MIT博士一年级</vt:lpstr>
    </vt:vector>
  </TitlesOfParts>
  <Manager>&lt;Content Manager Name Here&gt;</Manager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SAE-LR</dc:title>
  <dc:creator>Sonic</dc:creator>
  <cp:lastModifiedBy>潇 晏</cp:lastModifiedBy>
  <cp:revision>997</cp:revision>
  <dcterms:created xsi:type="dcterms:W3CDTF">2012-03-22T18:48:00Z</dcterms:created>
  <dcterms:modified xsi:type="dcterms:W3CDTF">2026-09-18T00:17:48Z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0x010100B88FC3ECA26D1C46B3C4C83281D2EB9C003BBE479AF4108146A616B6B5E7069DBC</vt:lpwstr>
  </property>
  <property fmtid="{D5CDD505-2E9C-101B-9397-08002B2CF9AE}" pid="3" name="Event Venue">
    <vt:lpwstr>232;#Orange County Convention Center Orlando, FL|bd993e89-aa48-4695-84e0-3b53e88b1a79</vt:lpwstr>
  </property>
  <property fmtid="{D5CDD505-2E9C-101B-9397-08002B2CF9AE}" pid="4" name="Event Location">
    <vt:lpwstr>231;#Orlando|99ded043-d247-43a1-9b7a-028ecd66d1eb</vt:lpwstr>
  </property>
  <property fmtid="{D5CDD505-2E9C-101B-9397-08002B2CF9AE}" pid="5" name="Event1">
    <vt:lpwstr>126;#TechEd|ac8fad57-eb30-43a8-b5bd-05dcf2cf2246</vt:lpwstr>
  </property>
  <property fmtid="{D5CDD505-2E9C-101B-9397-08002B2CF9AE}" pid="6" name="KSOProductBuildVer">
    <vt:lpwstr>2052-9.1.0.4180</vt:lpwstr>
  </property>
</Properties>
</file>